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 id="2147483672" r:id="rId3"/>
    <p:sldMasterId id="2147483684" r:id="rId4"/>
    <p:sldMasterId id="2147483696" r:id="rId5"/>
  </p:sldMasterIdLst>
  <p:notesMasterIdLst>
    <p:notesMasterId r:id="rId25"/>
  </p:notesMasterIdLst>
  <p:sldIdLst>
    <p:sldId id="356" r:id="rId6"/>
    <p:sldId id="357" r:id="rId7"/>
    <p:sldId id="353" r:id="rId8"/>
    <p:sldId id="336" r:id="rId9"/>
    <p:sldId id="347" r:id="rId10"/>
    <p:sldId id="349" r:id="rId11"/>
    <p:sldId id="338" r:id="rId12"/>
    <p:sldId id="272" r:id="rId13"/>
    <p:sldId id="372" r:id="rId14"/>
    <p:sldId id="373" r:id="rId15"/>
    <p:sldId id="374" r:id="rId16"/>
    <p:sldId id="375" r:id="rId17"/>
    <p:sldId id="371" r:id="rId18"/>
    <p:sldId id="361" r:id="rId19"/>
    <p:sldId id="376" r:id="rId20"/>
    <p:sldId id="377" r:id="rId21"/>
    <p:sldId id="362" r:id="rId22"/>
    <p:sldId id="351" r:id="rId23"/>
    <p:sldId id="339" r:id="rId24"/>
  </p:sldIdLst>
  <p:sldSz cx="9144000" cy="6858000" type="screen4x3"/>
  <p:notesSz cx="6954838" cy="93091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77" autoAdjust="0"/>
    <p:restoredTop sz="94660"/>
  </p:normalViewPr>
  <p:slideViewPr>
    <p:cSldViewPr showGuides="1">
      <p:cViewPr varScale="1">
        <p:scale>
          <a:sx n="78" d="100"/>
          <a:sy n="78" d="100"/>
        </p:scale>
        <p:origin x="205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shete" userId="589955ff82c8ca00" providerId="LiveId" clId="{1C74E86A-E6EE-4E8C-99AE-B96A24A601EF}"/>
    <pc:docChg chg="undo custSel addSld modSld">
      <pc:chgData name="aditya shete" userId="589955ff82c8ca00" providerId="LiveId" clId="{1C74E86A-E6EE-4E8C-99AE-B96A24A601EF}" dt="2025-02-12T18:14:37.790" v="262" actId="14100"/>
      <pc:docMkLst>
        <pc:docMk/>
      </pc:docMkLst>
      <pc:sldChg chg="modSp mod">
        <pc:chgData name="aditya shete" userId="589955ff82c8ca00" providerId="LiveId" clId="{1C74E86A-E6EE-4E8C-99AE-B96A24A601EF}" dt="2025-01-31T06:39:11.091" v="22" actId="20577"/>
        <pc:sldMkLst>
          <pc:docMk/>
          <pc:sldMk cId="0" sldId="336"/>
        </pc:sldMkLst>
        <pc:spChg chg="mod">
          <ac:chgData name="aditya shete" userId="589955ff82c8ca00" providerId="LiveId" clId="{1C74E86A-E6EE-4E8C-99AE-B96A24A601EF}" dt="2025-01-31T06:38:43.760" v="20" actId="20577"/>
          <ac:spMkLst>
            <pc:docMk/>
            <pc:sldMk cId="0" sldId="336"/>
            <ac:spMk id="4" creationId="{00000000-0000-0000-0000-000000000000}"/>
          </ac:spMkLst>
        </pc:spChg>
        <pc:spChg chg="mod">
          <ac:chgData name="aditya shete" userId="589955ff82c8ca00" providerId="LiveId" clId="{1C74E86A-E6EE-4E8C-99AE-B96A24A601EF}" dt="2025-01-31T06:39:11.091" v="22" actId="20577"/>
          <ac:spMkLst>
            <pc:docMk/>
            <pc:sldMk cId="0" sldId="336"/>
            <ac:spMk id="7" creationId="{00000000-0000-0000-0000-000000000000}"/>
          </ac:spMkLst>
        </pc:spChg>
        <pc:spChg chg="mod">
          <ac:chgData name="aditya shete" userId="589955ff82c8ca00" providerId="LiveId" clId="{1C74E86A-E6EE-4E8C-99AE-B96A24A601EF}" dt="2025-01-31T06:37:51.224" v="8" actId="255"/>
          <ac:spMkLst>
            <pc:docMk/>
            <pc:sldMk cId="0" sldId="336"/>
            <ac:spMk id="9" creationId="{00000000-0000-0000-0000-000000000000}"/>
          </ac:spMkLst>
        </pc:spChg>
      </pc:sldChg>
      <pc:sldChg chg="modSp mod">
        <pc:chgData name="aditya shete" userId="589955ff82c8ca00" providerId="LiveId" clId="{1C74E86A-E6EE-4E8C-99AE-B96A24A601EF}" dt="2025-02-09T18:18:49.751" v="27" actId="20577"/>
        <pc:sldMkLst>
          <pc:docMk/>
          <pc:sldMk cId="0" sldId="349"/>
        </pc:sldMkLst>
        <pc:spChg chg="mod">
          <ac:chgData name="aditya shete" userId="589955ff82c8ca00" providerId="LiveId" clId="{1C74E86A-E6EE-4E8C-99AE-B96A24A601EF}" dt="2025-02-09T18:18:49.751" v="27" actId="20577"/>
          <ac:spMkLst>
            <pc:docMk/>
            <pc:sldMk cId="0" sldId="349"/>
            <ac:spMk id="2" creationId="{00000000-0000-0000-0000-000000000000}"/>
          </ac:spMkLst>
        </pc:spChg>
      </pc:sldChg>
      <pc:sldChg chg="modSp mod">
        <pc:chgData name="aditya shete" userId="589955ff82c8ca00" providerId="LiveId" clId="{1C74E86A-E6EE-4E8C-99AE-B96A24A601EF}" dt="2025-02-12T18:07:53.491" v="249" actId="2711"/>
        <pc:sldMkLst>
          <pc:docMk/>
          <pc:sldMk cId="0" sldId="362"/>
        </pc:sldMkLst>
        <pc:spChg chg="mod">
          <ac:chgData name="aditya shete" userId="589955ff82c8ca00" providerId="LiveId" clId="{1C74E86A-E6EE-4E8C-99AE-B96A24A601EF}" dt="2025-02-12T18:07:53.491" v="249" actId="2711"/>
          <ac:spMkLst>
            <pc:docMk/>
            <pc:sldMk cId="0" sldId="362"/>
            <ac:spMk id="7" creationId="{00000000-0000-0000-0000-000000000000}"/>
          </ac:spMkLst>
        </pc:spChg>
      </pc:sldChg>
      <pc:sldChg chg="addSp delSp modSp new mod">
        <pc:chgData name="aditya shete" userId="589955ff82c8ca00" providerId="LiveId" clId="{1C74E86A-E6EE-4E8C-99AE-B96A24A601EF}" dt="2025-02-12T14:17:55.299" v="85" actId="27636"/>
        <pc:sldMkLst>
          <pc:docMk/>
          <pc:sldMk cId="1424425533" sldId="372"/>
        </pc:sldMkLst>
        <pc:spChg chg="add mod">
          <ac:chgData name="aditya shete" userId="589955ff82c8ca00" providerId="LiveId" clId="{1C74E86A-E6EE-4E8C-99AE-B96A24A601EF}" dt="2025-02-12T14:17:55.299" v="85" actId="27636"/>
          <ac:spMkLst>
            <pc:docMk/>
            <pc:sldMk cId="1424425533" sldId="372"/>
            <ac:spMk id="447" creationId="{00000000-0000-0000-0000-000000000000}"/>
          </ac:spMkLst>
        </pc:spChg>
        <pc:graphicFrameChg chg="add mod modGraphic">
          <ac:chgData name="aditya shete" userId="589955ff82c8ca00" providerId="LiveId" clId="{1C74E86A-E6EE-4E8C-99AE-B96A24A601EF}" dt="2025-02-12T14:15:23.015" v="61" actId="14100"/>
          <ac:graphicFrameMkLst>
            <pc:docMk/>
            <pc:sldMk cId="1424425533" sldId="372"/>
            <ac:graphicFrameMk id="9" creationId="{D473330F-13FE-159B-C3C4-D2E01C1CD04B}"/>
          </ac:graphicFrameMkLst>
        </pc:graphicFrameChg>
        <pc:picChg chg="add del">
          <ac:chgData name="aditya shete" userId="589955ff82c8ca00" providerId="LiveId" clId="{1C74E86A-E6EE-4E8C-99AE-B96A24A601EF}" dt="2025-02-12T14:09:42.539" v="30" actId="22"/>
          <ac:picMkLst>
            <pc:docMk/>
            <pc:sldMk cId="1424425533" sldId="372"/>
            <ac:picMk id="6" creationId="{9C5FB6CB-9667-F965-314D-BE8868B718B9}"/>
          </ac:picMkLst>
        </pc:picChg>
        <pc:picChg chg="add del">
          <ac:chgData name="aditya shete" userId="589955ff82c8ca00" providerId="LiveId" clId="{1C74E86A-E6EE-4E8C-99AE-B96A24A601EF}" dt="2025-02-12T14:10:05.688" v="32" actId="22"/>
          <ac:picMkLst>
            <pc:docMk/>
            <pc:sldMk cId="1424425533" sldId="372"/>
            <ac:picMk id="8" creationId="{2113690D-3F1B-2A25-EC1B-0F925200CBE5}"/>
          </ac:picMkLst>
        </pc:picChg>
        <pc:picChg chg="add mod">
          <ac:chgData name="aditya shete" userId="589955ff82c8ca00" providerId="LiveId" clId="{1C74E86A-E6EE-4E8C-99AE-B96A24A601EF}" dt="2025-02-12T14:16:56.628" v="71" actId="14100"/>
          <ac:picMkLst>
            <pc:docMk/>
            <pc:sldMk cId="1424425533" sldId="372"/>
            <ac:picMk id="10" creationId="{0C60E597-2AE6-7922-B048-F2F49351DADA}"/>
          </ac:picMkLst>
        </pc:picChg>
        <pc:picChg chg="add mod">
          <ac:chgData name="aditya shete" userId="589955ff82c8ca00" providerId="LiveId" clId="{1C74E86A-E6EE-4E8C-99AE-B96A24A601EF}" dt="2025-02-12T14:17:41.370" v="81" actId="1076"/>
          <ac:picMkLst>
            <pc:docMk/>
            <pc:sldMk cId="1424425533" sldId="372"/>
            <ac:picMk id="11" creationId="{7A4A67AE-6484-7C5C-DE46-202D85011455}"/>
          </ac:picMkLst>
        </pc:picChg>
        <pc:picChg chg="add del mod">
          <ac:chgData name="aditya shete" userId="589955ff82c8ca00" providerId="LiveId" clId="{1C74E86A-E6EE-4E8C-99AE-B96A24A601EF}" dt="2025-02-12T14:17:07.589" v="75" actId="478"/>
          <ac:picMkLst>
            <pc:docMk/>
            <pc:sldMk cId="1424425533" sldId="372"/>
            <ac:picMk id="12" creationId="{B32256A6-163F-6CE1-D65E-4561AE0A62AA}"/>
          </ac:picMkLst>
        </pc:picChg>
        <pc:picChg chg="add del mod">
          <ac:chgData name="aditya shete" userId="589955ff82c8ca00" providerId="LiveId" clId="{1C74E86A-E6EE-4E8C-99AE-B96A24A601EF}" dt="2025-02-12T14:17:02.014" v="73" actId="478"/>
          <ac:picMkLst>
            <pc:docMk/>
            <pc:sldMk cId="1424425533" sldId="372"/>
            <ac:picMk id="13" creationId="{C0F53D79-7B34-4CFC-9B19-572E071216FA}"/>
          </ac:picMkLst>
        </pc:picChg>
      </pc:sldChg>
      <pc:sldChg chg="addSp delSp modSp new mod">
        <pc:chgData name="aditya shete" userId="589955ff82c8ca00" providerId="LiveId" clId="{1C74E86A-E6EE-4E8C-99AE-B96A24A601EF}" dt="2025-02-12T14:13:32.352" v="53" actId="14100"/>
        <pc:sldMkLst>
          <pc:docMk/>
          <pc:sldMk cId="794340744" sldId="373"/>
        </pc:sldMkLst>
        <pc:spChg chg="add del mod">
          <ac:chgData name="aditya shete" userId="589955ff82c8ca00" providerId="LiveId" clId="{1C74E86A-E6EE-4E8C-99AE-B96A24A601EF}" dt="2025-02-12T14:13:32.352" v="53" actId="14100"/>
          <ac:spMkLst>
            <pc:docMk/>
            <pc:sldMk cId="794340744" sldId="373"/>
            <ac:spMk id="5" creationId="{42506813-423F-8004-F965-1EF8721FF6C0}"/>
          </ac:spMkLst>
        </pc:spChg>
        <pc:graphicFrameChg chg="add del mod modGraphic">
          <ac:chgData name="aditya shete" userId="589955ff82c8ca00" providerId="LiveId" clId="{1C74E86A-E6EE-4E8C-99AE-B96A24A601EF}" dt="2025-02-12T14:13:32.352" v="53" actId="14100"/>
          <ac:graphicFrameMkLst>
            <pc:docMk/>
            <pc:sldMk cId="794340744" sldId="373"/>
            <ac:graphicFrameMk id="6" creationId="{9CB0A819-4565-62E4-0138-387CD61DF28C}"/>
          </ac:graphicFrameMkLst>
        </pc:graphicFrameChg>
      </pc:sldChg>
      <pc:sldChg chg="addSp modSp new mod">
        <pc:chgData name="aditya shete" userId="589955ff82c8ca00" providerId="LiveId" clId="{1C74E86A-E6EE-4E8C-99AE-B96A24A601EF}" dt="2025-02-12T14:18:17.604" v="86" actId="14734"/>
        <pc:sldMkLst>
          <pc:docMk/>
          <pc:sldMk cId="342526153" sldId="374"/>
        </pc:sldMkLst>
        <pc:spChg chg="add mod">
          <ac:chgData name="aditya shete" userId="589955ff82c8ca00" providerId="LiveId" clId="{1C74E86A-E6EE-4E8C-99AE-B96A24A601EF}" dt="2025-02-12T14:14:03.310" v="55"/>
          <ac:spMkLst>
            <pc:docMk/>
            <pc:sldMk cId="342526153" sldId="374"/>
            <ac:spMk id="5" creationId="{874D86A0-6842-FD0E-0028-3C7881B8E143}"/>
          </ac:spMkLst>
        </pc:spChg>
        <pc:graphicFrameChg chg="add mod">
          <ac:chgData name="aditya shete" userId="589955ff82c8ca00" providerId="LiveId" clId="{1C74E86A-E6EE-4E8C-99AE-B96A24A601EF}" dt="2025-02-12T14:14:03.310" v="55"/>
          <ac:graphicFrameMkLst>
            <pc:docMk/>
            <pc:sldMk cId="342526153" sldId="374"/>
            <ac:graphicFrameMk id="6" creationId="{1DD28827-EC0B-960E-B5D5-4EC2CAB2A839}"/>
          </ac:graphicFrameMkLst>
        </pc:graphicFrameChg>
        <pc:graphicFrameChg chg="add mod modGraphic">
          <ac:chgData name="aditya shete" userId="589955ff82c8ca00" providerId="LiveId" clId="{1C74E86A-E6EE-4E8C-99AE-B96A24A601EF}" dt="2025-02-12T14:18:17.604" v="86" actId="14734"/>
          <ac:graphicFrameMkLst>
            <pc:docMk/>
            <pc:sldMk cId="342526153" sldId="374"/>
            <ac:graphicFrameMk id="7" creationId="{20EAEE1A-B567-0860-E96A-DEC75A65284D}"/>
          </ac:graphicFrameMkLst>
        </pc:graphicFrameChg>
      </pc:sldChg>
      <pc:sldChg chg="addSp delSp modSp new mod">
        <pc:chgData name="aditya shete" userId="589955ff82c8ca00" providerId="LiveId" clId="{1C74E86A-E6EE-4E8C-99AE-B96A24A601EF}" dt="2025-02-12T15:56:34.991" v="230" actId="1076"/>
        <pc:sldMkLst>
          <pc:docMk/>
          <pc:sldMk cId="238385044" sldId="375"/>
        </pc:sldMkLst>
        <pc:spChg chg="del">
          <ac:chgData name="aditya shete" userId="589955ff82c8ca00" providerId="LiveId" clId="{1C74E86A-E6EE-4E8C-99AE-B96A24A601EF}" dt="2025-02-12T14:20:00.057" v="88"/>
          <ac:spMkLst>
            <pc:docMk/>
            <pc:sldMk cId="238385044" sldId="375"/>
            <ac:spMk id="2" creationId="{04907490-8333-C6E9-28B9-648CDC279997}"/>
          </ac:spMkLst>
        </pc:spChg>
        <pc:spChg chg="add mod">
          <ac:chgData name="aditya shete" userId="589955ff82c8ca00" providerId="LiveId" clId="{1C74E86A-E6EE-4E8C-99AE-B96A24A601EF}" dt="2025-02-12T14:28:20.562" v="186" actId="27636"/>
          <ac:spMkLst>
            <pc:docMk/>
            <pc:sldMk cId="238385044" sldId="375"/>
            <ac:spMk id="6" creationId="{F120264D-9458-E3C0-C99E-405208C952F1}"/>
          </ac:spMkLst>
        </pc:spChg>
        <pc:spChg chg="add del mod">
          <ac:chgData name="aditya shete" userId="589955ff82c8ca00" providerId="LiveId" clId="{1C74E86A-E6EE-4E8C-99AE-B96A24A601EF}" dt="2025-02-12T14:28:16.063" v="184" actId="478"/>
          <ac:spMkLst>
            <pc:docMk/>
            <pc:sldMk cId="238385044" sldId="375"/>
            <ac:spMk id="8" creationId="{F14D76BA-B410-5B69-E3E9-745EE98AFA67}"/>
          </ac:spMkLst>
        </pc:spChg>
        <pc:spChg chg="add del mod">
          <ac:chgData name="aditya shete" userId="589955ff82c8ca00" providerId="LiveId" clId="{1C74E86A-E6EE-4E8C-99AE-B96A24A601EF}" dt="2025-02-12T14:54:18.594" v="214"/>
          <ac:spMkLst>
            <pc:docMk/>
            <pc:sldMk cId="238385044" sldId="375"/>
            <ac:spMk id="12" creationId="{5C2A0CDD-D1A4-3919-6EDB-55EA8DA3EE6F}"/>
          </ac:spMkLst>
        </pc:spChg>
        <pc:spChg chg="add del mod">
          <ac:chgData name="aditya shete" userId="589955ff82c8ca00" providerId="LiveId" clId="{1C74E86A-E6EE-4E8C-99AE-B96A24A601EF}" dt="2025-02-12T14:42:07.999" v="203"/>
          <ac:spMkLst>
            <pc:docMk/>
            <pc:sldMk cId="238385044" sldId="375"/>
            <ac:spMk id="14" creationId="{FA6402CB-102C-CAA7-4EF8-53A2C39CEC94}"/>
          </ac:spMkLst>
        </pc:spChg>
        <pc:spChg chg="add mod">
          <ac:chgData name="aditya shete" userId="589955ff82c8ca00" providerId="LiveId" clId="{1C74E86A-E6EE-4E8C-99AE-B96A24A601EF}" dt="2025-02-12T15:56:34.991" v="230" actId="1076"/>
          <ac:spMkLst>
            <pc:docMk/>
            <pc:sldMk cId="238385044" sldId="375"/>
            <ac:spMk id="16" creationId="{1B34B45D-F184-9A3D-32F4-18A6555E582D}"/>
          </ac:spMkLst>
        </pc:spChg>
        <pc:picChg chg="add mod">
          <ac:chgData name="aditya shete" userId="589955ff82c8ca00" providerId="LiveId" clId="{1C74E86A-E6EE-4E8C-99AE-B96A24A601EF}" dt="2025-02-12T14:28:50.014" v="188" actId="14100"/>
          <ac:picMkLst>
            <pc:docMk/>
            <pc:sldMk cId="238385044" sldId="375"/>
            <ac:picMk id="9" creationId="{9A8DFC21-AB07-492D-6176-C14FC8ABA7ED}"/>
          </ac:picMkLst>
        </pc:picChg>
        <pc:picChg chg="add mod">
          <ac:chgData name="aditya shete" userId="589955ff82c8ca00" providerId="LiveId" clId="{1C74E86A-E6EE-4E8C-99AE-B96A24A601EF}" dt="2025-02-12T14:29:27.040" v="195" actId="1076"/>
          <ac:picMkLst>
            <pc:docMk/>
            <pc:sldMk cId="238385044" sldId="375"/>
            <ac:picMk id="10" creationId="{E841C0DE-7C50-DB92-AFD6-1F6D77FB1C08}"/>
          </ac:picMkLst>
        </pc:picChg>
      </pc:sldChg>
      <pc:sldChg chg="addSp delSp modSp new mod">
        <pc:chgData name="aditya shete" userId="589955ff82c8ca00" providerId="LiveId" clId="{1C74E86A-E6EE-4E8C-99AE-B96A24A601EF}" dt="2025-02-12T18:14:37.790" v="262" actId="14100"/>
        <pc:sldMkLst>
          <pc:docMk/>
          <pc:sldMk cId="4021689334" sldId="376"/>
        </pc:sldMkLst>
        <pc:spChg chg="del mod">
          <ac:chgData name="aditya shete" userId="589955ff82c8ca00" providerId="LiveId" clId="{1C74E86A-E6EE-4E8C-99AE-B96A24A601EF}" dt="2025-02-12T18:11:47.135" v="256" actId="478"/>
          <ac:spMkLst>
            <pc:docMk/>
            <pc:sldMk cId="4021689334" sldId="376"/>
            <ac:spMk id="2" creationId="{01DC2E91-CF4A-F338-ABF8-20B58A9D81F7}"/>
          </ac:spMkLst>
        </pc:spChg>
        <pc:spChg chg="del mod">
          <ac:chgData name="aditya shete" userId="589955ff82c8ca00" providerId="LiveId" clId="{1C74E86A-E6EE-4E8C-99AE-B96A24A601EF}" dt="2025-02-12T18:13:12.653" v="259"/>
          <ac:spMkLst>
            <pc:docMk/>
            <pc:sldMk cId="4021689334" sldId="376"/>
            <ac:spMk id="3" creationId="{ED60742D-6AC6-089E-549F-316FB4D592A3}"/>
          </ac:spMkLst>
        </pc:spChg>
        <pc:spChg chg="add mod">
          <ac:chgData name="aditya shete" userId="589955ff82c8ca00" providerId="LiveId" clId="{1C74E86A-E6EE-4E8C-99AE-B96A24A601EF}" dt="2025-02-12T18:12:13.917" v="257" actId="1076"/>
          <ac:spMkLst>
            <pc:docMk/>
            <pc:sldMk cId="4021689334" sldId="376"/>
            <ac:spMk id="9" creationId="{90B11A6F-1A4C-B437-EB11-4C74D26D403E}"/>
          </ac:spMkLst>
        </pc:spChg>
        <pc:picChg chg="add mod">
          <ac:chgData name="aditya shete" userId="589955ff82c8ca00" providerId="LiveId" clId="{1C74E86A-E6EE-4E8C-99AE-B96A24A601EF}" dt="2025-02-12T18:10:52.520" v="252" actId="14100"/>
          <ac:picMkLst>
            <pc:docMk/>
            <pc:sldMk cId="4021689334" sldId="376"/>
            <ac:picMk id="7" creationId="{06E1E803-D7B1-D423-E9A6-B7B50CD8015B}"/>
          </ac:picMkLst>
        </pc:picChg>
        <pc:picChg chg="add mod">
          <ac:chgData name="aditya shete" userId="589955ff82c8ca00" providerId="LiveId" clId="{1C74E86A-E6EE-4E8C-99AE-B96A24A601EF}" dt="2025-02-12T18:11:19.695" v="253"/>
          <ac:picMkLst>
            <pc:docMk/>
            <pc:sldMk cId="4021689334" sldId="376"/>
            <ac:picMk id="8" creationId="{3A7EC78B-CF12-4A33-B77B-8E356D2723D1}"/>
          </ac:picMkLst>
        </pc:picChg>
        <pc:picChg chg="add mod">
          <ac:chgData name="aditya shete" userId="589955ff82c8ca00" providerId="LiveId" clId="{1C74E86A-E6EE-4E8C-99AE-B96A24A601EF}" dt="2025-02-12T18:14:37.790" v="262" actId="14100"/>
          <ac:picMkLst>
            <pc:docMk/>
            <pc:sldMk cId="4021689334" sldId="376"/>
            <ac:picMk id="11" creationId="{3CB3A314-76AA-24E2-045F-A3FA649DB3A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DC9B00DF-D0CD-42BD-A9A6-A9927F9DA07E}" type="datetimeFigureOut">
              <a:rPr lang="en-US" smtClean="0"/>
              <a:t>4/18/2025</a:t>
            </a:fld>
            <a:endParaRPr lang="en-US"/>
          </a:p>
        </p:txBody>
      </p:sp>
      <p:sp>
        <p:nvSpPr>
          <p:cNvPr id="4" name="Slide Image Placeholder 3"/>
          <p:cNvSpPr>
            <a:spLocks noGrp="1" noRot="1" noChangeAspect="1"/>
          </p:cNvSpPr>
          <p:nvPr>
            <p:ph type="sldImg" idx="2"/>
          </p:nvPr>
        </p:nvSpPr>
        <p:spPr>
          <a:xfrm>
            <a:off x="1384300" y="1163638"/>
            <a:ext cx="4186238" cy="3141662"/>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203475E3-FDC5-4C2E-93FA-614291BC476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should be the title slide for all corporate presentations pertaining to the overall university level </a:t>
            </a:r>
          </a:p>
        </p:txBody>
      </p:sp>
      <p:sp>
        <p:nvSpPr>
          <p:cNvPr id="4" name="Slide Number Placeholder 3"/>
          <p:cNvSpPr>
            <a:spLocks noGrp="1"/>
          </p:cNvSpPr>
          <p:nvPr>
            <p:ph type="sldNum" sz="quarter" idx="5"/>
          </p:nvPr>
        </p:nvSpPr>
        <p:spPr/>
        <p:txBody>
          <a:bodyPr/>
          <a:lstStyle/>
          <a:p>
            <a:fld id="{DCE1FC74-779B-D247-B77E-EE4A4441F059}" type="slidenum">
              <a:rPr lang="en-US" smtClean="0">
                <a:solidFill>
                  <a:prstClr val="black"/>
                </a:solidFill>
              </a:rPr>
              <a:t>1</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title slide for respective colleges/institutions while we retain the DMIHER logo on top always. </a:t>
            </a:r>
          </a:p>
        </p:txBody>
      </p:sp>
      <p:sp>
        <p:nvSpPr>
          <p:cNvPr id="4" name="Slide Number Placeholder 3"/>
          <p:cNvSpPr>
            <a:spLocks noGrp="1"/>
          </p:cNvSpPr>
          <p:nvPr>
            <p:ph type="sldNum" sz="quarter" idx="5"/>
          </p:nvPr>
        </p:nvSpPr>
        <p:spPr/>
        <p:txBody>
          <a:bodyPr/>
          <a:lstStyle/>
          <a:p>
            <a:fld id="{DCE1FC74-779B-D247-B77E-EE4A4441F059}" type="slidenum">
              <a:rPr lang="en-US" smtClean="0">
                <a:solidFill>
                  <a:prstClr val="black"/>
                </a:solidFill>
              </a:r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3475E3-FDC5-4C2E-93FA-614291BC4764}"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28/08/2020</a:t>
            </a:r>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28/08/2020</a:t>
            </a:r>
          </a:p>
        </p:txBody>
      </p:sp>
      <p:sp>
        <p:nvSpPr>
          <p:cNvPr id="8" name="Footer Placeholder 7"/>
          <p:cNvSpPr>
            <a:spLocks noGrp="1"/>
          </p:cNvSpPr>
          <p:nvPr>
            <p:ph type="ftr" sz="quarter" idx="11"/>
          </p:nvPr>
        </p:nvSpPr>
        <p:spPr/>
        <p:txBody>
          <a:bodyPr/>
          <a:lstStyle/>
          <a:p>
            <a:r>
              <a:rPr lang="en-US"/>
              <a:t>   Datta Meghe Institute of Medical Sciences  Deemed to be University,  Sawangi (Meghe)Wardha</a:t>
            </a:r>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28/08/2020</a:t>
            </a:r>
          </a:p>
        </p:txBody>
      </p:sp>
      <p:sp>
        <p:nvSpPr>
          <p:cNvPr id="4" name="Footer Placeholder 3"/>
          <p:cNvSpPr>
            <a:spLocks noGrp="1"/>
          </p:cNvSpPr>
          <p:nvPr>
            <p:ph type="ftr" sz="quarter" idx="11"/>
          </p:nvPr>
        </p:nvSpPr>
        <p:spPr/>
        <p:txBody>
          <a:bodyPr/>
          <a:lstStyle/>
          <a:p>
            <a:r>
              <a:rPr lang="en-US"/>
              <a:t>   Datta Meghe Institute of Medical Sciences  Deemed to be University,  Sawangi (Meghe)Wardha</a:t>
            </a:r>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28/08/2020</a:t>
            </a:r>
          </a:p>
        </p:txBody>
      </p:sp>
      <p:sp>
        <p:nvSpPr>
          <p:cNvPr id="3" name="Footer Placeholder 2"/>
          <p:cNvSpPr>
            <a:spLocks noGrp="1"/>
          </p:cNvSpPr>
          <p:nvPr>
            <p:ph type="ftr" sz="quarter" idx="11"/>
          </p:nvPr>
        </p:nvSpPr>
        <p:spPr/>
        <p:txBody>
          <a:bodyPr/>
          <a:lstStyle/>
          <a:p>
            <a:r>
              <a:rPr lang="en-US"/>
              <a:t>   Datta Meghe Institute of Medical Sciences  Deemed to be University,  Sawangi (Meghe)Wardha</a:t>
            </a:r>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28/08/2020</a:t>
            </a:r>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28/08/2020</a:t>
            </a:r>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13"/>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88"/>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69"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6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solidFill>
                  <a:prstClr val="black">
                    <a:tint val="75000"/>
                  </a:prstClr>
                </a:solidFill>
              </a:rPr>
              <a:t>28/08/2020</a:t>
            </a:r>
          </a:p>
        </p:txBody>
      </p:sp>
      <p:sp>
        <p:nvSpPr>
          <p:cNvPr id="8" name="Footer Placeholder 7"/>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solidFill>
                  <a:prstClr val="black">
                    <a:tint val="75000"/>
                  </a:prstClr>
                </a:solidFill>
              </a:rPr>
              <a:t>28/08/2020</a:t>
            </a:r>
          </a:p>
        </p:txBody>
      </p:sp>
      <p:sp>
        <p:nvSpPr>
          <p:cNvPr id="4" name="Footer Placeholder 3"/>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28/08/2020</a:t>
            </a:r>
          </a:p>
        </p:txBody>
      </p:sp>
      <p:sp>
        <p:nvSpPr>
          <p:cNvPr id="3" name="Footer Placeholder 2"/>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13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726"/>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726"/>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13"/>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88"/>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69"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6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solidFill>
                  <a:prstClr val="black">
                    <a:tint val="75000"/>
                  </a:prstClr>
                </a:solidFill>
              </a:rPr>
              <a:t>28/08/2020</a:t>
            </a:r>
          </a:p>
        </p:txBody>
      </p:sp>
      <p:sp>
        <p:nvSpPr>
          <p:cNvPr id="8" name="Footer Placeholder 7"/>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solidFill>
                  <a:prstClr val="black">
                    <a:tint val="75000"/>
                  </a:prstClr>
                </a:solidFill>
              </a:rPr>
              <a:t>28/08/2020</a:t>
            </a:r>
          </a:p>
        </p:txBody>
      </p:sp>
      <p:sp>
        <p:nvSpPr>
          <p:cNvPr id="4" name="Footer Placeholder 3"/>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28/08/2020</a:t>
            </a:r>
          </a:p>
        </p:txBody>
      </p:sp>
      <p:sp>
        <p:nvSpPr>
          <p:cNvPr id="3" name="Footer Placeholder 2"/>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13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726"/>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726"/>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13"/>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88"/>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69"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6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solidFill>
                  <a:prstClr val="black">
                    <a:tint val="75000"/>
                  </a:prstClr>
                </a:solidFill>
              </a:rPr>
              <a:t>28/08/2020</a:t>
            </a:r>
          </a:p>
        </p:txBody>
      </p:sp>
      <p:sp>
        <p:nvSpPr>
          <p:cNvPr id="8" name="Footer Placeholder 7"/>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solidFill>
                  <a:prstClr val="black">
                    <a:tint val="75000"/>
                  </a:prstClr>
                </a:solidFill>
              </a:rPr>
              <a:t>28/08/2020</a:t>
            </a:r>
          </a:p>
        </p:txBody>
      </p:sp>
      <p:sp>
        <p:nvSpPr>
          <p:cNvPr id="4" name="Footer Placeholder 3"/>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28/08/2020</a:t>
            </a:r>
          </a:p>
        </p:txBody>
      </p:sp>
      <p:sp>
        <p:nvSpPr>
          <p:cNvPr id="3" name="Footer Placeholder 2"/>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13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726"/>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726"/>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28/08/2020</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Datta Meghe Institute of Medical Sciences  Deemed to be University,  Sawangi (Meghe)Wardha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438"/>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28/08/2020</a:t>
            </a:r>
          </a:p>
        </p:txBody>
      </p:sp>
      <p:sp>
        <p:nvSpPr>
          <p:cNvPr id="5" name="Footer Placeholder 4"/>
          <p:cNvSpPr>
            <a:spLocks noGrp="1"/>
          </p:cNvSpPr>
          <p:nvPr>
            <p:ph type="ftr" sz="quarter" idx="3"/>
          </p:nvPr>
        </p:nvSpPr>
        <p:spPr>
          <a:xfrm>
            <a:off x="3124200" y="6356438"/>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4"/>
          </p:nvPr>
        </p:nvSpPr>
        <p:spPr>
          <a:xfrm>
            <a:off x="6553200" y="6356438"/>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438"/>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28/08/2020</a:t>
            </a:r>
          </a:p>
        </p:txBody>
      </p:sp>
      <p:sp>
        <p:nvSpPr>
          <p:cNvPr id="5" name="Footer Placeholder 4"/>
          <p:cNvSpPr>
            <a:spLocks noGrp="1"/>
          </p:cNvSpPr>
          <p:nvPr>
            <p:ph type="ftr" sz="quarter" idx="3"/>
          </p:nvPr>
        </p:nvSpPr>
        <p:spPr>
          <a:xfrm>
            <a:off x="3124200" y="6356438"/>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4"/>
          </p:nvPr>
        </p:nvSpPr>
        <p:spPr>
          <a:xfrm>
            <a:off x="6553200" y="6356438"/>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438"/>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28/08/2020</a:t>
            </a:r>
          </a:p>
        </p:txBody>
      </p:sp>
      <p:sp>
        <p:nvSpPr>
          <p:cNvPr id="5" name="Footer Placeholder 4"/>
          <p:cNvSpPr>
            <a:spLocks noGrp="1"/>
          </p:cNvSpPr>
          <p:nvPr>
            <p:ph type="ftr" sz="quarter" idx="3"/>
          </p:nvPr>
        </p:nvSpPr>
        <p:spPr>
          <a:xfrm>
            <a:off x="3124200" y="6356438"/>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4"/>
          </p:nvPr>
        </p:nvSpPr>
        <p:spPr>
          <a:xfrm>
            <a:off x="6553200" y="6356438"/>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4C0D5E-4AD6-434C-94DF-A67270B9C051}" type="datetimeFigureOut">
              <a:rPr lang="en-US" smtClean="0">
                <a:solidFill>
                  <a:prstClr val="black">
                    <a:tint val="75000"/>
                  </a:prstClr>
                </a:solidFill>
              </a:rPr>
              <a:t>4/18/2025</a:t>
            </a:fld>
            <a:endParaRPr 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6FDA1DE-14CF-0F43-804E-9B6915F7C256}" type="slidenum">
              <a:rPr lang="en-US" smtClean="0">
                <a:solidFill>
                  <a:prstClr val="black">
                    <a:tint val="75000"/>
                  </a:prstClr>
                </a:solidFill>
              </a:r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ogo&#10;&#10;Description automatically generated"/>
          <p:cNvPicPr>
            <a:picLocks noChangeAspect="1"/>
          </p:cNvPicPr>
          <p:nvPr/>
        </p:nvPicPr>
        <p:blipFill>
          <a:blip r:embed="rId3"/>
          <a:stretch>
            <a:fillRect/>
          </a:stretch>
        </p:blipFill>
        <p:spPr>
          <a:xfrm>
            <a:off x="0" y="838200"/>
            <a:ext cx="9144000"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10;&#10;Description automatically generated with medium confidence"/>
          <p:cNvPicPr>
            <a:picLocks noChangeAspect="1"/>
          </p:cNvPicPr>
          <p:nvPr/>
        </p:nvPicPr>
        <p:blipFill>
          <a:blip r:embed="rId3"/>
          <a:stretch>
            <a:fillRect/>
          </a:stretch>
        </p:blipFill>
        <p:spPr>
          <a:xfrm>
            <a:off x="0" y="876300"/>
            <a:ext cx="9144000" cy="5143500"/>
          </a:xfrm>
          <a:prstGeom prst="rect">
            <a:avLst/>
          </a:prstGeom>
        </p:spPr>
      </p:pic>
      <p:sp>
        <p:nvSpPr>
          <p:cNvPr id="7" name="TextBox 6"/>
          <p:cNvSpPr txBox="1"/>
          <p:nvPr/>
        </p:nvSpPr>
        <p:spPr>
          <a:xfrm>
            <a:off x="990600" y="3429000"/>
            <a:ext cx="7034893" cy="845185"/>
          </a:xfrm>
          <a:prstGeom prst="rect">
            <a:avLst/>
          </a:prstGeom>
          <a:noFill/>
        </p:spPr>
        <p:txBody>
          <a:bodyPr wrap="square" rtlCol="0">
            <a:spAutoFit/>
          </a:bodyPr>
          <a:lstStyle/>
          <a:p>
            <a:pPr algn="ctr"/>
            <a:r>
              <a:rPr lang="en-US" sz="2800" dirty="0">
                <a:solidFill>
                  <a:prstClr val="white"/>
                </a:solidFill>
                <a:latin typeface="Times New Roman" panose="02020603050405020304" pitchFamily="18" charset="0"/>
                <a:cs typeface="Times New Roman" panose="02020603050405020304" pitchFamily="18" charset="0"/>
              </a:rPr>
              <a:t>Faculty of Engineering and Technology</a:t>
            </a:r>
          </a:p>
          <a:p>
            <a:pPr algn="ctr"/>
            <a:r>
              <a:rPr lang="en-US" sz="2100" dirty="0">
                <a:solidFill>
                  <a:prstClr val="white"/>
                </a:solidFill>
                <a:latin typeface="Times New Roman" panose="02020603050405020304" pitchFamily="18" charset="0"/>
                <a:cs typeface="Times New Roman" panose="02020603050405020304" pitchFamily="18" charset="0"/>
              </a:rPr>
              <a:t>Department of Computer Science and Medical Engineering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1" y="1752600"/>
            <a:ext cx="8077200" cy="3429000"/>
          </a:xfrm>
        </p:spPr>
        <p:txBody>
          <a:bodyPr>
            <a:noAutofit/>
          </a:bodyPr>
          <a:lstStyle/>
          <a:p>
            <a:r>
              <a:rPr lang="en-US" sz="3600" dirty="0">
                <a:latin typeface="Times New Roman" panose="02020603050405020304" pitchFamily="18" charset="0"/>
                <a:cs typeface="Times New Roman" panose="02020603050405020304" pitchFamily="18" charset="0"/>
              </a:rPr>
              <a:t>B.Tech Semester IV</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Project Based Learning-II Presentation</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pic>
        <p:nvPicPr>
          <p:cNvPr id="4" name="Picture 3" descr="DMIHER New LOGO"/>
          <p:cNvPicPr/>
          <p:nvPr/>
        </p:nvPicPr>
        <p:blipFill>
          <a:blip r:embed="rId2">
            <a:extLst>
              <a:ext uri="{28A0092B-C50C-407E-A947-70E740481C1C}">
                <a14:useLocalDpi xmlns:a14="http://schemas.microsoft.com/office/drawing/2010/main" val="0"/>
              </a:ext>
            </a:extLst>
          </a:blip>
          <a:srcRect/>
          <a:stretch>
            <a:fillRect/>
          </a:stretch>
        </p:blipFill>
        <p:spPr bwMode="auto">
          <a:xfrm>
            <a:off x="171450" y="138953"/>
            <a:ext cx="1123950" cy="1219200"/>
          </a:xfrm>
          <a:prstGeom prst="rect">
            <a:avLst/>
          </a:prstGeom>
          <a:noFill/>
          <a:ln>
            <a:noFill/>
          </a:ln>
        </p:spPr>
      </p:pic>
      <p:pic>
        <p:nvPicPr>
          <p:cNvPr id="6" name="Picture 5"/>
          <p:cNvPicPr/>
          <p:nvPr/>
        </p:nvPicPr>
        <p:blipFill>
          <a:blip r:embed="rId3"/>
          <a:srcRect/>
          <a:stretch>
            <a:fillRect/>
          </a:stretch>
        </p:blipFill>
        <p:spPr bwMode="auto">
          <a:xfrm>
            <a:off x="8077200" y="152400"/>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571480"/>
            <a:ext cx="7772400" cy="1447799"/>
          </a:xfrm>
        </p:spPr>
        <p:txBody>
          <a:bodyPr>
            <a:normAutofit fontScale="90000"/>
          </a:bodyPr>
          <a:lstStyle/>
          <a:p>
            <a:pPr>
              <a:lnSpc>
                <a:spcPct val="150000"/>
              </a:lnSpc>
            </a:pPr>
            <a:br>
              <a:rPr lang="en-US"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04800" y="648831"/>
            <a:ext cx="8375936" cy="4127284"/>
          </a:xfrm>
          <a:prstGeom prst="rect">
            <a:avLst/>
          </a:prstGeom>
        </p:spPr>
        <p:txBody>
          <a:bodyPr wrap="square">
            <a:spAutoFit/>
          </a:bodyPr>
          <a:lstStyle/>
          <a:p>
            <a:pPr algn="ctr"/>
            <a:r>
              <a:rPr lang="en-US" sz="2000" b="1" dirty="0">
                <a:solidFill>
                  <a:prstClr val="black"/>
                </a:solidFill>
                <a:latin typeface="Times New Roman" panose="02020603050405020304" pitchFamily="18" charset="0"/>
                <a:cs typeface="Times New Roman" panose="02020603050405020304" pitchFamily="18" charset="0"/>
              </a:rPr>
              <a:t>Presentation </a:t>
            </a:r>
          </a:p>
          <a:p>
            <a:pPr algn="ctr"/>
            <a:r>
              <a:rPr lang="en-US" sz="2000" b="1" dirty="0">
                <a:solidFill>
                  <a:prstClr val="black"/>
                </a:solidFill>
                <a:latin typeface="Times New Roman" panose="02020603050405020304" pitchFamily="18" charset="0"/>
                <a:cs typeface="Times New Roman" panose="02020603050405020304" pitchFamily="18" charset="0"/>
              </a:rPr>
              <a:t>on</a:t>
            </a:r>
          </a:p>
          <a:p>
            <a:pPr marL="0" lvl="0" indent="0" algn="ctr" rtl="0">
              <a:lnSpc>
                <a:spcPct val="115000"/>
              </a:lnSpc>
              <a:spcBef>
                <a:spcPts val="0"/>
              </a:spcBef>
              <a:spcAft>
                <a:spcPts val="0"/>
              </a:spcAft>
              <a:buClr>
                <a:srgbClr val="262626"/>
              </a:buClr>
              <a:buSzPts val="4526"/>
              <a:buFont typeface="Calibri"/>
              <a:buNone/>
            </a:pPr>
            <a:r>
              <a:rPr lang="en-US" sz="3200" b="1" dirty="0">
                <a:latin typeface="Times New Roman"/>
                <a:ea typeface="Times New Roman"/>
                <a:cs typeface="Times New Roman"/>
                <a:sym typeface="Times New Roman"/>
              </a:rPr>
              <a:t>GLAUCOMA </a:t>
            </a:r>
            <a:r>
              <a:rPr lang="en-US" sz="3600" b="1" dirty="0">
                <a:latin typeface="Times New Roman"/>
                <a:ea typeface="Times New Roman"/>
                <a:cs typeface="Times New Roman"/>
                <a:sym typeface="Times New Roman"/>
              </a:rPr>
              <a:t>DETECTION</a:t>
            </a:r>
            <a:r>
              <a:rPr lang="en-US" sz="3200" b="1" dirty="0">
                <a:latin typeface="Times New Roman"/>
                <a:ea typeface="Times New Roman"/>
                <a:cs typeface="Times New Roman"/>
                <a:sym typeface="Times New Roman"/>
              </a:rPr>
              <a:t> USING</a:t>
            </a:r>
          </a:p>
          <a:p>
            <a:pPr marL="0" lvl="0" indent="0" algn="ctr" rtl="0">
              <a:lnSpc>
                <a:spcPct val="115000"/>
              </a:lnSpc>
              <a:spcBef>
                <a:spcPts val="0"/>
              </a:spcBef>
              <a:spcAft>
                <a:spcPts val="0"/>
              </a:spcAft>
              <a:buClr>
                <a:srgbClr val="262626"/>
              </a:buClr>
              <a:buSzPts val="4526"/>
              <a:buFont typeface="Calibri"/>
              <a:buNone/>
            </a:pPr>
            <a:r>
              <a:rPr lang="en-US" sz="3200" b="1" dirty="0">
                <a:latin typeface="Times New Roman"/>
                <a:ea typeface="Times New Roman"/>
                <a:cs typeface="Times New Roman"/>
                <a:sym typeface="Times New Roman"/>
              </a:rPr>
              <a:t> DEEP LEARNING</a:t>
            </a:r>
            <a:endParaRPr lang="en-US" sz="3200" dirty="0">
              <a:latin typeface="Times New Roman" panose="02020603050405020304" pitchFamily="18" charset="0"/>
              <a:cs typeface="Times New Roman" panose="02020603050405020304" pitchFamily="18" charset="0"/>
            </a:endParaRPr>
          </a:p>
          <a:p>
            <a:endParaRPr lang="en-US" sz="3600" dirty="0"/>
          </a:p>
          <a:p>
            <a:endParaRPr lang="en-US" sz="3600" dirty="0"/>
          </a:p>
          <a:p>
            <a:endParaRPr lang="en-US" sz="3600" dirty="0"/>
          </a:p>
          <a:p>
            <a:endParaRPr lang="en-US" sz="3600" dirty="0"/>
          </a:p>
        </p:txBody>
      </p:sp>
      <p:pic>
        <p:nvPicPr>
          <p:cNvPr id="5" name="Picture 4" descr="DMIHER New LOGO"/>
          <p:cNvPicPr/>
          <p:nvPr/>
        </p:nvPicPr>
        <p:blipFill>
          <a:blip r:embed="rId3">
            <a:extLst>
              <a:ext uri="{28A0092B-C50C-407E-A947-70E740481C1C}">
                <a14:useLocalDpi xmlns:a14="http://schemas.microsoft.com/office/drawing/2010/main" val="0"/>
              </a:ext>
            </a:extLst>
          </a:blip>
          <a:srcRect/>
          <a:stretch>
            <a:fillRect/>
          </a:stretch>
        </p:blipFill>
        <p:spPr bwMode="auto">
          <a:xfrm>
            <a:off x="171450" y="138953"/>
            <a:ext cx="1123950" cy="1219200"/>
          </a:xfrm>
          <a:prstGeom prst="rect">
            <a:avLst/>
          </a:prstGeom>
          <a:noFill/>
          <a:ln>
            <a:noFill/>
          </a:ln>
        </p:spPr>
      </p:pic>
      <p:pic>
        <p:nvPicPr>
          <p:cNvPr id="6" name="Picture 5"/>
          <p:cNvPicPr/>
          <p:nvPr/>
        </p:nvPicPr>
        <p:blipFill>
          <a:blip r:embed="rId4"/>
          <a:srcRect/>
          <a:stretch>
            <a:fillRect/>
          </a:stretch>
        </p:blipFill>
        <p:spPr bwMode="auto">
          <a:xfrm>
            <a:off x="8077200" y="152400"/>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Subtitle 3"/>
          <p:cNvSpPr>
            <a:spLocks noGrp="1"/>
          </p:cNvSpPr>
          <p:nvPr>
            <p:ph type="subTitle" idx="1"/>
          </p:nvPr>
        </p:nvSpPr>
        <p:spPr>
          <a:xfrm>
            <a:off x="1371600" y="2286000"/>
            <a:ext cx="6400800" cy="1752600"/>
          </a:xfrm>
        </p:spPr>
        <p:txBody>
          <a:bodyPr>
            <a:noAutofit/>
          </a:bodyPr>
          <a:lstStyle/>
          <a:p>
            <a:pPr algn="ctr">
              <a:lnSpc>
                <a:spcPct val="170000"/>
              </a:lnSpc>
            </a:pPr>
            <a:endParaRPr lang="en-US" sz="2000" b="1" dirty="0">
              <a:solidFill>
                <a:schemeClr val="tx1"/>
              </a:solidFill>
              <a:latin typeface="Times New Roman" panose="02020603050405020304" pitchFamily="18" charset="0"/>
              <a:cs typeface="Times New Roman" panose="02020603050405020304" pitchFamily="18" charset="0"/>
              <a:sym typeface="+mn-ea"/>
            </a:endParaRPr>
          </a:p>
          <a:p>
            <a:pPr algn="ctr">
              <a:lnSpc>
                <a:spcPct val="170000"/>
              </a:lnSpc>
            </a:pPr>
            <a:r>
              <a:rPr lang="en-US" sz="2000" b="1" dirty="0">
                <a:solidFill>
                  <a:schemeClr val="tx1"/>
                </a:solidFill>
                <a:latin typeface="Times New Roman" panose="02020603050405020304" pitchFamily="18" charset="0"/>
                <a:cs typeface="Times New Roman" panose="02020603050405020304" pitchFamily="18" charset="0"/>
                <a:sym typeface="+mn-ea"/>
              </a:rPr>
              <a:t>Name of Students :    Aditya Shete</a:t>
            </a:r>
          </a:p>
        </p:txBody>
      </p:sp>
      <p:sp>
        <p:nvSpPr>
          <p:cNvPr id="7" name="Text Box 6"/>
          <p:cNvSpPr txBox="1"/>
          <p:nvPr/>
        </p:nvSpPr>
        <p:spPr>
          <a:xfrm>
            <a:off x="733425" y="3358821"/>
            <a:ext cx="8227060" cy="2026285"/>
          </a:xfrm>
          <a:prstGeom prst="rect">
            <a:avLst/>
          </a:prstGeom>
          <a:noFill/>
        </p:spPr>
        <p:txBody>
          <a:bodyPr wrap="square" rtlCol="0" anchor="t">
            <a:spAutoFit/>
          </a:bodyPr>
          <a:lstStyle/>
          <a:p>
            <a:pPr algn="ctr">
              <a:lnSpc>
                <a:spcPct val="170000"/>
              </a:lnSpc>
            </a:pPr>
            <a:r>
              <a:rPr lang="en-US" sz="2000" b="1" dirty="0">
                <a:latin typeface="Times New Roman" panose="02020603050405020304" pitchFamily="18" charset="0"/>
                <a:cs typeface="Times New Roman" panose="02020603050405020304" pitchFamily="18" charset="0"/>
                <a:sym typeface="+mn-ea"/>
              </a:rPr>
              <a:t>      Name of Mentor :  Dr. Subodh </a:t>
            </a:r>
            <a:r>
              <a:rPr lang="en-US" sz="2000" b="1" dirty="0" err="1">
                <a:latin typeface="Times New Roman" panose="02020603050405020304" pitchFamily="18" charset="0"/>
                <a:cs typeface="Times New Roman" panose="02020603050405020304" pitchFamily="18" charset="0"/>
                <a:sym typeface="+mn-ea"/>
              </a:rPr>
              <a:t>Daronde</a:t>
            </a:r>
            <a:r>
              <a:rPr lang="en-US" sz="2000" b="1" dirty="0">
                <a:latin typeface="Times New Roman" panose="02020603050405020304" pitchFamily="18" charset="0"/>
                <a:cs typeface="Times New Roman" panose="02020603050405020304" pitchFamily="18" charset="0"/>
                <a:sym typeface="+mn-ea"/>
              </a:rPr>
              <a:t>.</a:t>
            </a:r>
            <a:endParaRPr lang="en-US" sz="2000" b="1" dirty="0">
              <a:latin typeface="Times New Roman" panose="02020603050405020304" pitchFamily="18" charset="0"/>
              <a:cs typeface="Times New Roman" panose="02020603050405020304" pitchFamily="18" charset="0"/>
            </a:endParaRPr>
          </a:p>
          <a:p>
            <a:pPr algn="ctr">
              <a:lnSpc>
                <a:spcPct val="170000"/>
              </a:lnSpc>
            </a:pPr>
            <a:r>
              <a:rPr lang="en-US" b="1" dirty="0">
                <a:latin typeface="Times New Roman" panose="02020603050405020304" pitchFamily="18" charset="0"/>
                <a:cs typeface="Times New Roman" panose="02020603050405020304" pitchFamily="18" charset="0"/>
                <a:sym typeface="+mn-ea"/>
              </a:rPr>
              <a:t>DEPARTMENT OF COMPUTER SCIENCE AND MEDICAL ENGINEERING,</a:t>
            </a:r>
          </a:p>
          <a:p>
            <a:pPr algn="ctr">
              <a:lnSpc>
                <a:spcPct val="170000"/>
              </a:lnSpc>
            </a:pPr>
            <a:r>
              <a:rPr lang="en-US" sz="1600" b="1" dirty="0">
                <a:latin typeface="Times New Roman" panose="02020603050405020304" pitchFamily="18" charset="0"/>
                <a:cs typeface="Times New Roman" panose="02020603050405020304" pitchFamily="18" charset="0"/>
                <a:sym typeface="+mn-ea"/>
              </a:rPr>
              <a:t> </a:t>
            </a:r>
            <a:r>
              <a:rPr lang="en-US" sz="2000" b="1" dirty="0">
                <a:latin typeface="Times New Roman" panose="02020603050405020304" pitchFamily="18" charset="0"/>
                <a:cs typeface="Times New Roman" panose="02020603050405020304" pitchFamily="18" charset="0"/>
                <a:sym typeface="+mn-ea"/>
              </a:rPr>
              <a:t>FACULTY OF ENGINEERING AND TECHNOLOGY</a:t>
            </a:r>
            <a:r>
              <a:rPr lang="en-US" b="1" dirty="0">
                <a:latin typeface="Times New Roman" panose="02020603050405020304" pitchFamily="18" charset="0"/>
                <a:cs typeface="Times New Roman" panose="02020603050405020304" pitchFamily="18" charset="0"/>
                <a:sym typeface="+mn-ea"/>
              </a:rPr>
              <a:t>, </a:t>
            </a:r>
          </a:p>
          <a:p>
            <a:pPr algn="ctr">
              <a:lnSpc>
                <a:spcPct val="170000"/>
              </a:lnSpc>
            </a:pPr>
            <a:r>
              <a:rPr lang="en-US" b="1" dirty="0">
                <a:latin typeface="Times New Roman" panose="02020603050405020304" pitchFamily="18" charset="0"/>
                <a:cs typeface="Times New Roman" panose="02020603050405020304" pitchFamily="18" charset="0"/>
                <a:sym typeface="+mn-ea"/>
              </a:rPr>
              <a:t> SAWANGI (MEGHE), WARDHA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Autofit/>
          </a:bodyPr>
          <a:lstStyle/>
          <a:p>
            <a:r>
              <a:rPr lang="en-US" sz="3200" b="1" dirty="0">
                <a:latin typeface="Times New Roman" panose="02020603050405020304" pitchFamily="18" charset="0"/>
                <a:cs typeface="Times New Roman" panose="02020603050405020304" pitchFamily="18" charset="0"/>
              </a:rPr>
              <a:t>CONTENTS</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8076" y="1308847"/>
            <a:ext cx="8229600" cy="5105400"/>
          </a:xfrm>
        </p:spPr>
        <p:txBody>
          <a:bodyPr>
            <a:normAutofit fontScale="97500"/>
          </a:bodyPr>
          <a:lstStyle/>
          <a:p>
            <a:pPr>
              <a:lnSpc>
                <a:spcPct val="150000"/>
              </a:lnSpc>
              <a:buFont typeface="Wingdings" panose="05000000000000000000" pitchFamily="2" charset="2"/>
              <a:buChar char="q"/>
            </a:pPr>
            <a:r>
              <a:rPr lang="en-US" sz="2900" dirty="0">
                <a:latin typeface="Times New Roman" panose="02020603050405020304" pitchFamily="18" charset="0"/>
                <a:cs typeface="Times New Roman" panose="02020603050405020304" pitchFamily="18" charset="0"/>
              </a:rPr>
              <a:t>Introduction</a:t>
            </a:r>
          </a:p>
          <a:p>
            <a:pPr>
              <a:lnSpc>
                <a:spcPct val="150000"/>
              </a:lnSpc>
              <a:buFont typeface="Wingdings" panose="05000000000000000000" pitchFamily="2" charset="2"/>
              <a:buChar char="q"/>
            </a:pPr>
            <a:r>
              <a:rPr lang="en-US" sz="2900" dirty="0">
                <a:latin typeface="Times New Roman" panose="02020603050405020304" pitchFamily="18" charset="0"/>
                <a:cs typeface="Times New Roman" panose="02020603050405020304" pitchFamily="18" charset="0"/>
              </a:rPr>
              <a:t>Aim</a:t>
            </a:r>
          </a:p>
          <a:p>
            <a:pPr>
              <a:lnSpc>
                <a:spcPct val="150000"/>
              </a:lnSpc>
              <a:buFont typeface="Wingdings" panose="05000000000000000000" pitchFamily="2" charset="2"/>
              <a:buChar char="q"/>
            </a:pPr>
            <a:r>
              <a:rPr lang="en-US" sz="2900" dirty="0">
                <a:latin typeface="Times New Roman" panose="02020603050405020304" pitchFamily="18" charset="0"/>
                <a:cs typeface="Times New Roman" panose="02020603050405020304" pitchFamily="18" charset="0"/>
              </a:rPr>
              <a:t>Objectives</a:t>
            </a:r>
          </a:p>
          <a:p>
            <a:pPr>
              <a:lnSpc>
                <a:spcPct val="150000"/>
              </a:lnSpc>
              <a:buFont typeface="Wingdings" panose="05000000000000000000" pitchFamily="2" charset="2"/>
              <a:buChar char="q"/>
            </a:pPr>
            <a:r>
              <a:rPr lang="en-US" sz="2900" dirty="0">
                <a:latin typeface="Times New Roman" panose="02020603050405020304" pitchFamily="18" charset="0"/>
                <a:cs typeface="Times New Roman" panose="02020603050405020304" pitchFamily="18" charset="0"/>
              </a:rPr>
              <a:t>Methodology</a:t>
            </a:r>
          </a:p>
          <a:p>
            <a:pPr>
              <a:lnSpc>
                <a:spcPct val="150000"/>
              </a:lnSpc>
              <a:buFont typeface="Wingdings" panose="05000000000000000000" pitchFamily="2" charset="2"/>
              <a:buChar char="q"/>
            </a:pPr>
            <a:r>
              <a:rPr lang="en-US" sz="2900" dirty="0">
                <a:latin typeface="Times New Roman" panose="02020603050405020304" pitchFamily="18" charset="0"/>
                <a:cs typeface="Times New Roman" panose="02020603050405020304" pitchFamily="18" charset="0"/>
              </a:rPr>
              <a:t>Result</a:t>
            </a:r>
          </a:p>
          <a:p>
            <a:pPr>
              <a:lnSpc>
                <a:spcPct val="150000"/>
              </a:lnSpc>
              <a:buFont typeface="Wingdings" panose="05000000000000000000" pitchFamily="2" charset="2"/>
              <a:buChar char="q"/>
            </a:pPr>
            <a:r>
              <a:rPr lang="en-US" sz="2900" dirty="0">
                <a:latin typeface="Times New Roman" panose="02020603050405020304" pitchFamily="18" charset="0"/>
                <a:cs typeface="Times New Roman" panose="02020603050405020304" pitchFamily="18" charset="0"/>
              </a:rPr>
              <a:t>Conclusion</a:t>
            </a:r>
          </a:p>
          <a:p>
            <a:pPr>
              <a:lnSpc>
                <a:spcPct val="150000"/>
              </a:lnSpc>
              <a:buFont typeface="Wingdings" panose="05000000000000000000" pitchFamily="2" charset="2"/>
              <a:buChar char="q"/>
            </a:pPr>
            <a:r>
              <a:rPr lang="en-US" sz="2900"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pic>
        <p:nvPicPr>
          <p:cNvPr id="5" name="Picture 4" descr="DMIHER New LOGO"/>
          <p:cNvPicPr/>
          <p:nvPr/>
        </p:nvPicPr>
        <p:blipFill>
          <a:blip r:embed="rId2">
            <a:extLst>
              <a:ext uri="{28A0092B-C50C-407E-A947-70E740481C1C}">
                <a14:useLocalDpi xmlns:a14="http://schemas.microsoft.com/office/drawing/2010/main" val="0"/>
              </a:ext>
            </a:extLst>
          </a:blip>
          <a:srcRect/>
          <a:stretch>
            <a:fillRect/>
          </a:stretch>
        </p:blipFill>
        <p:spPr bwMode="auto">
          <a:xfrm>
            <a:off x="171450" y="138953"/>
            <a:ext cx="1123950" cy="1219200"/>
          </a:xfrm>
          <a:prstGeom prst="rect">
            <a:avLst/>
          </a:prstGeom>
          <a:noFill/>
          <a:ln>
            <a:noFill/>
          </a:ln>
        </p:spPr>
      </p:pic>
      <p:pic>
        <p:nvPicPr>
          <p:cNvPr id="7" name="Picture 6"/>
          <p:cNvPicPr/>
          <p:nvPr/>
        </p:nvPicPr>
        <p:blipFill>
          <a:blip r:embed="rId3"/>
          <a:srcRect/>
          <a:stretch>
            <a:fillRect/>
          </a:stretch>
        </p:blipFill>
        <p:spPr bwMode="auto">
          <a:xfrm>
            <a:off x="8077200" y="152400"/>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a:bodyPr>
          <a:lstStyle/>
          <a:p>
            <a:r>
              <a:rPr lang="en-US" sz="3200" b="1" dirty="0">
                <a:latin typeface="Times New Roman" panose="02020603050405020304" pitchFamily="18" charset="0"/>
                <a:cs typeface="Times New Roman" panose="02020603050405020304" pitchFamily="18" charset="0"/>
              </a:rPr>
              <a:t>INTRODUCTION</a:t>
            </a:r>
            <a:endParaRPr lang="en-IN" sz="3200" b="1" dirty="0"/>
          </a:p>
        </p:txBody>
      </p:sp>
      <p:sp>
        <p:nvSpPr>
          <p:cNvPr id="3" name="Content Placeholder 2"/>
          <p:cNvSpPr>
            <a:spLocks noGrp="1"/>
          </p:cNvSpPr>
          <p:nvPr>
            <p:ph idx="1"/>
          </p:nvPr>
        </p:nvSpPr>
        <p:spPr>
          <a:xfrm>
            <a:off x="457200" y="1171575"/>
            <a:ext cx="8244205" cy="4850765"/>
          </a:xfrm>
        </p:spPr>
        <p:txBody>
          <a:bodyPr>
            <a:noAutofit/>
          </a:bodyPr>
          <a:lstStyle/>
          <a:p>
            <a:pPr algn="just">
              <a:lnSpc>
                <a:spcPct val="150000"/>
              </a:lnSpc>
              <a:buFont typeface="Wingdings" panose="05000000000000000000" charset="0"/>
              <a:buChar char="Ø"/>
            </a:pPr>
            <a:r>
              <a:rPr lang="en-IN" alt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Glaucoma is a serious eye disease that damages the optic nerve and can lead to permanent vision loss.</a:t>
            </a:r>
            <a:endParaRPr lang="en-IN" altLang="en-US" sz="1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IN" altLang="en-US" sz="1400" dirty="0">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It is often caused by high eye pressure and is more common in older people.</a:t>
            </a:r>
            <a:endParaRPr lang="en-IN" altLang="en-US" sz="1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US" altLang="en-US" sz="1400" dirty="0">
                <a:latin typeface="Times New Roman" panose="02020603050405020304" pitchFamily="18" charset="0"/>
                <a:cs typeface="Times New Roman" panose="02020603050405020304" pitchFamily="18" charset="0"/>
              </a:rPr>
              <a:t>Glaucoma is known as the "silent thief of sight" because it develops slowly over time</a:t>
            </a:r>
            <a:endParaRPr lang="en-IN" altLang="en-US" sz="1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US" altLang="en-US" sz="1400" dirty="0">
                <a:latin typeface="Times New Roman" panose="02020603050405020304" pitchFamily="18" charset="0"/>
                <a:cs typeface="Times New Roman" panose="02020603050405020304" pitchFamily="18" charset="0"/>
              </a:rPr>
              <a:t>It is often caused by increased intraocular pressure (IOP) and affects millions of people worldwide.</a:t>
            </a:r>
            <a:endParaRPr lang="en-IN" altLang="en-US" sz="1400" dirty="0">
              <a:latin typeface="Times New Roman" panose="02020603050405020304" pitchFamily="18" charset="0"/>
              <a:cs typeface="Times New Roman" panose="02020603050405020304" pitchFamily="18" charset="0"/>
            </a:endParaRPr>
          </a:p>
        </p:txBody>
      </p:sp>
      <p:pic>
        <p:nvPicPr>
          <p:cNvPr id="5" name="Picture 4" descr="DMIHER New LOGO"/>
          <p:cNvPicPr/>
          <p:nvPr/>
        </p:nvPicPr>
        <p:blipFill>
          <a:blip r:embed="rId2">
            <a:extLst>
              <a:ext uri="{28A0092B-C50C-407E-A947-70E740481C1C}">
                <a14:useLocalDpi xmlns:a14="http://schemas.microsoft.com/office/drawing/2010/main" val="0"/>
              </a:ext>
            </a:extLst>
          </a:blip>
          <a:srcRect/>
          <a:stretch>
            <a:fillRect/>
          </a:stretch>
        </p:blipFill>
        <p:spPr bwMode="auto">
          <a:xfrm>
            <a:off x="171450" y="76200"/>
            <a:ext cx="1123950" cy="1219200"/>
          </a:xfrm>
          <a:prstGeom prst="rect">
            <a:avLst/>
          </a:prstGeom>
          <a:noFill/>
          <a:ln>
            <a:noFill/>
          </a:ln>
        </p:spPr>
      </p:pic>
      <p:pic>
        <p:nvPicPr>
          <p:cNvPr id="7" name="Picture 6"/>
          <p:cNvPicPr/>
          <p:nvPr/>
        </p:nvPicPr>
        <p:blipFill>
          <a:blip r:embed="rId3"/>
          <a:srcRect/>
          <a:stretch>
            <a:fillRect/>
          </a:stretch>
        </p:blipFill>
        <p:spPr bwMode="auto">
          <a:xfrm>
            <a:off x="8077200" y="89647"/>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 name="Picture 3">
            <a:extLst>
              <a:ext uri="{FF2B5EF4-FFF2-40B4-BE49-F238E27FC236}">
                <a16:creationId xmlns:a16="http://schemas.microsoft.com/office/drawing/2014/main" id="{7C911885-D0A5-C314-BD9E-4FB7D27D2376}"/>
              </a:ext>
            </a:extLst>
          </p:cNvPr>
          <p:cNvPicPr>
            <a:picLocks noChangeAspect="1"/>
          </p:cNvPicPr>
          <p:nvPr/>
        </p:nvPicPr>
        <p:blipFill>
          <a:blip r:embed="rId4"/>
          <a:stretch>
            <a:fillRect/>
          </a:stretch>
        </p:blipFill>
        <p:spPr>
          <a:xfrm>
            <a:off x="1752600" y="2667000"/>
            <a:ext cx="5066215" cy="40541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971800" y="5725923"/>
            <a:ext cx="3581400" cy="1132077"/>
          </a:xfrm>
          <a:prstGeom prst="rect">
            <a:avLst/>
          </a:prstGeom>
          <a:noFill/>
        </p:spPr>
        <p:txBody>
          <a:bodyPr wrap="square" rtlCol="0">
            <a:spAutoFit/>
          </a:bodyPr>
          <a:lstStyle/>
          <a:p>
            <a:endParaRPr lang="en-US" dirty="0"/>
          </a:p>
        </p:txBody>
      </p:sp>
      <p:sp>
        <p:nvSpPr>
          <p:cNvPr id="12" name="Rectangle 11"/>
          <p:cNvSpPr/>
          <p:nvPr/>
        </p:nvSpPr>
        <p:spPr>
          <a:xfrm>
            <a:off x="457200" y="1447800"/>
            <a:ext cx="8001000" cy="4725035"/>
          </a:xfrm>
          <a:prstGeom prst="rect">
            <a:avLst/>
          </a:prstGeom>
        </p:spPr>
        <p:txBody>
          <a:bodyPr wrap="square">
            <a:noAutofit/>
          </a:bodyPr>
          <a:lstStyle/>
          <a:p>
            <a:r>
              <a:rPr lang="en-US" sz="3200" dirty="0">
                <a:latin typeface="Times New Roman" panose="02020603050405020304" pitchFamily="18" charset="0"/>
                <a:cs typeface="Times New Roman" panose="02020603050405020304" pitchFamily="18" charset="0"/>
              </a:rPr>
              <a:t>                                     </a:t>
            </a:r>
            <a:endParaRPr lang="en-US" sz="2400" dirty="0">
              <a:solidFill>
                <a:schemeClr val="tx1"/>
              </a:solidFill>
              <a:latin typeface="Times New Roman" panose="02020603050405020304" pitchFamily="18" charset="0"/>
              <a:cs typeface="Times New Roman" panose="02020603050405020304" pitchFamily="18" charset="0"/>
              <a:sym typeface="+mn-ea"/>
            </a:endParaRPr>
          </a:p>
          <a:p>
            <a:pPr marL="457200" indent="-457200" algn="just">
              <a:buFont typeface="Wingdings" panose="05000000000000000000" charset="0"/>
              <a:buChar char="Ø"/>
            </a:pPr>
            <a:r>
              <a:rPr lang="en-US" sz="2800" dirty="0">
                <a:solidFill>
                  <a:schemeClr val="tx1"/>
                </a:solidFill>
                <a:latin typeface="Times New Roman" panose="02020603050405020304" pitchFamily="18" charset="0"/>
                <a:cs typeface="Times New Roman" panose="02020603050405020304" pitchFamily="18" charset="0"/>
                <a:sym typeface="+mn-ea"/>
              </a:rPr>
              <a:t>Develop a </a:t>
            </a:r>
            <a:r>
              <a:rPr lang="en-US" sz="2800" dirty="0">
                <a:latin typeface="Times New Roman" panose="02020603050405020304" pitchFamily="18" charset="0"/>
                <a:cs typeface="Times New Roman" panose="02020603050405020304" pitchFamily="18" charset="0"/>
                <a:sym typeface="+mn-ea"/>
              </a:rPr>
              <a:t>Deep</a:t>
            </a:r>
            <a:r>
              <a:rPr lang="en-US" sz="2800" dirty="0">
                <a:solidFill>
                  <a:schemeClr val="tx1"/>
                </a:solidFill>
                <a:latin typeface="Times New Roman" panose="02020603050405020304" pitchFamily="18" charset="0"/>
                <a:cs typeface="Times New Roman" panose="02020603050405020304" pitchFamily="18" charset="0"/>
                <a:sym typeface="+mn-ea"/>
              </a:rPr>
              <a:t> learning model for  detection of </a:t>
            </a:r>
            <a:r>
              <a:rPr lang="en-US" sz="2800" dirty="0" err="1">
                <a:solidFill>
                  <a:schemeClr val="tx1"/>
                </a:solidFill>
                <a:latin typeface="Times New Roman" panose="02020603050405020304" pitchFamily="18" charset="0"/>
                <a:cs typeface="Times New Roman" panose="02020603050405020304" pitchFamily="18" charset="0"/>
                <a:sym typeface="+mn-ea"/>
              </a:rPr>
              <a:t>Glucoma</a:t>
            </a:r>
            <a:r>
              <a:rPr lang="en-US" sz="2800" dirty="0">
                <a:solidFill>
                  <a:schemeClr val="tx1"/>
                </a:solidFill>
                <a:latin typeface="Times New Roman" panose="02020603050405020304" pitchFamily="18" charset="0"/>
                <a:cs typeface="Times New Roman" panose="02020603050405020304" pitchFamily="18" charset="0"/>
                <a:sym typeface="+mn-ea"/>
              </a:rPr>
              <a:t>.</a:t>
            </a:r>
          </a:p>
          <a:p>
            <a:pPr indent="0" algn="just">
              <a:buFont typeface="Wingdings" panose="05000000000000000000" charset="0"/>
              <a:buNone/>
            </a:pPr>
            <a:endParaRPr lang="en-US" sz="2800" dirty="0">
              <a:solidFill>
                <a:schemeClr val="tx1"/>
              </a:solidFill>
              <a:latin typeface="Times New Roman" panose="02020603050405020304" pitchFamily="18" charset="0"/>
              <a:cs typeface="Times New Roman" panose="02020603050405020304" pitchFamily="18" charset="0"/>
              <a:sym typeface="+mn-ea"/>
            </a:endParaRPr>
          </a:p>
          <a:p>
            <a:endParaRPr lang="en-US" dirty="0"/>
          </a:p>
        </p:txBody>
      </p:sp>
      <p:pic>
        <p:nvPicPr>
          <p:cNvPr id="4" name="Picture 3" descr="DMIHER New LOGO"/>
          <p:cNvPicPr/>
          <p:nvPr/>
        </p:nvPicPr>
        <p:blipFill>
          <a:blip r:embed="rId2">
            <a:extLst>
              <a:ext uri="{28A0092B-C50C-407E-A947-70E740481C1C}">
                <a14:useLocalDpi xmlns:a14="http://schemas.microsoft.com/office/drawing/2010/main" val="0"/>
              </a:ext>
            </a:extLst>
          </a:blip>
          <a:srcRect/>
          <a:stretch>
            <a:fillRect/>
          </a:stretch>
        </p:blipFill>
        <p:spPr bwMode="auto">
          <a:xfrm>
            <a:off x="228600" y="287214"/>
            <a:ext cx="1134208" cy="1251439"/>
          </a:xfrm>
          <a:prstGeom prst="rect">
            <a:avLst/>
          </a:prstGeom>
          <a:noFill/>
          <a:ln>
            <a:noFill/>
          </a:ln>
        </p:spPr>
      </p:pic>
      <p:pic>
        <p:nvPicPr>
          <p:cNvPr id="5" name="Picture 4"/>
          <p:cNvPicPr/>
          <p:nvPr/>
        </p:nvPicPr>
        <p:blipFill>
          <a:blip r:embed="rId3"/>
          <a:srcRect/>
          <a:stretch>
            <a:fillRect/>
          </a:stretch>
        </p:blipFill>
        <p:spPr bwMode="auto">
          <a:xfrm>
            <a:off x="8001000" y="457200"/>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Text Box 1"/>
          <p:cNvSpPr txBox="1"/>
          <p:nvPr/>
        </p:nvSpPr>
        <p:spPr>
          <a:xfrm>
            <a:off x="2209800" y="591820"/>
            <a:ext cx="5019040" cy="645160"/>
          </a:xfrm>
          <a:prstGeom prst="rect">
            <a:avLst/>
          </a:prstGeom>
          <a:noFill/>
        </p:spPr>
        <p:txBody>
          <a:bodyPr wrap="square" rtlCol="0">
            <a:spAutoFit/>
          </a:bodyPr>
          <a:lstStyle/>
          <a:p>
            <a:pPr algn="ctr"/>
            <a:r>
              <a:rPr lang="en-US" sz="3600" b="1">
                <a:latin typeface="Times New Roman" panose="02020603050405020304" pitchFamily="18" charset="0"/>
                <a:cs typeface="Times New Roman" panose="02020603050405020304" pitchFamily="18" charset="0"/>
              </a:rPr>
              <a:t>AIM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457200" y="1447800"/>
            <a:ext cx="8305800" cy="3998595"/>
          </a:xfrm>
          <a:solidFill>
            <a:schemeClr val="bg1"/>
          </a:solidFill>
        </p:spPr>
        <p:txBody>
          <a:bodyPr>
            <a:normAutofit/>
          </a:bodyPr>
          <a:lstStyle/>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sym typeface="+mn-ea"/>
              </a:rPr>
              <a:t>To create a predictive model using CNN.</a:t>
            </a:r>
            <a:r>
              <a:rPr lang="en-US" sz="2800" dirty="0">
                <a:latin typeface="Times New Roman" panose="02020603050405020304" pitchFamily="18" charset="0"/>
                <a:cs typeface="Times New Roman" panose="02020603050405020304" pitchFamily="18" charset="0"/>
              </a:rPr>
              <a:t>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 Develop a strong system by using many different types of eye images to improve model performance.</a:t>
            </a:r>
            <a:r>
              <a:rPr lang="en-US" sz="2800" dirty="0">
                <a:latin typeface="Times New Roman" panose="02020603050405020304" pitchFamily="18" charset="0"/>
                <a:cs typeface="Times New Roman" panose="02020603050405020304" pitchFamily="18" charset="0"/>
                <a:sym typeface="+mn-ea"/>
              </a:rPr>
              <a:t>. </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sym typeface="+mn-ea"/>
              </a:rPr>
              <a:t>Design a CNN-based model to automatically detect glaucoma from retinal fundus images..</a:t>
            </a:r>
            <a:endParaRPr lang="en-US" sz="2800" dirty="0">
              <a:sym typeface="+mn-ea"/>
            </a:endParaRPr>
          </a:p>
        </p:txBody>
      </p:sp>
      <p:pic>
        <p:nvPicPr>
          <p:cNvPr id="5" name="Picture 4" descr="DMIHER New LOGO"/>
          <p:cNvPicPr/>
          <p:nvPr/>
        </p:nvPicPr>
        <p:blipFill>
          <a:blip r:embed="rId2">
            <a:extLst>
              <a:ext uri="{28A0092B-C50C-407E-A947-70E740481C1C}">
                <a14:useLocalDpi xmlns:a14="http://schemas.microsoft.com/office/drawing/2010/main" val="0"/>
              </a:ext>
            </a:extLst>
          </a:blip>
          <a:srcRect/>
          <a:stretch>
            <a:fillRect/>
          </a:stretch>
        </p:blipFill>
        <p:spPr bwMode="auto">
          <a:xfrm>
            <a:off x="171450" y="138953"/>
            <a:ext cx="1123950" cy="1219200"/>
          </a:xfrm>
          <a:prstGeom prst="rect">
            <a:avLst/>
          </a:prstGeom>
          <a:noFill/>
          <a:ln>
            <a:noFill/>
          </a:ln>
        </p:spPr>
      </p:pic>
      <p:pic>
        <p:nvPicPr>
          <p:cNvPr id="6" name="Picture 5"/>
          <p:cNvPicPr/>
          <p:nvPr/>
        </p:nvPicPr>
        <p:blipFill>
          <a:blip r:embed="rId3"/>
          <a:srcRect/>
          <a:stretch>
            <a:fillRect/>
          </a:stretch>
        </p:blipFill>
        <p:spPr bwMode="auto">
          <a:xfrm>
            <a:off x="8077200" y="117230"/>
            <a:ext cx="899746" cy="94663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EFED55-A67A-8099-4A05-4238BA9B7BA4}"/>
              </a:ext>
            </a:extLst>
          </p:cNvPr>
          <p:cNvSpPr>
            <a:spLocks noGrp="1"/>
          </p:cNvSpPr>
          <p:nvPr>
            <p:ph type="dt" sz="half" idx="10"/>
          </p:nvPr>
        </p:nvSpPr>
        <p:spPr/>
        <p:txBody>
          <a:bodyPr/>
          <a:lstStyle/>
          <a:p>
            <a:r>
              <a:rPr lang="en-US"/>
              <a:t>28/08/2020</a:t>
            </a:r>
          </a:p>
        </p:txBody>
      </p:sp>
      <p:sp>
        <p:nvSpPr>
          <p:cNvPr id="3" name="Footer Placeholder 2">
            <a:extLst>
              <a:ext uri="{FF2B5EF4-FFF2-40B4-BE49-F238E27FC236}">
                <a16:creationId xmlns:a16="http://schemas.microsoft.com/office/drawing/2014/main" id="{8E0ED9FE-B711-AB7B-D38B-790C024ECC45}"/>
              </a:ext>
            </a:extLst>
          </p:cNvPr>
          <p:cNvSpPr>
            <a:spLocks noGrp="1"/>
          </p:cNvSpPr>
          <p:nvPr>
            <p:ph type="ftr" sz="quarter" idx="11"/>
          </p:nvPr>
        </p:nvSpPr>
        <p:spPr/>
        <p:txBody>
          <a:bodyPr/>
          <a:lstStyle/>
          <a:p>
            <a:r>
              <a:rPr lang="en-US"/>
              <a:t>   Datta Meghe Institute of Medical Sciences  Deemed to be University,  Sawangi (Meghe)Wardha</a:t>
            </a:r>
          </a:p>
        </p:txBody>
      </p:sp>
      <p:sp>
        <p:nvSpPr>
          <p:cNvPr id="4" name="Slide Number Placeholder 3">
            <a:extLst>
              <a:ext uri="{FF2B5EF4-FFF2-40B4-BE49-F238E27FC236}">
                <a16:creationId xmlns:a16="http://schemas.microsoft.com/office/drawing/2014/main" id="{5F284516-E005-722E-A5AB-0245AA6F1F44}"/>
              </a:ext>
            </a:extLst>
          </p:cNvPr>
          <p:cNvSpPr>
            <a:spLocks noGrp="1"/>
          </p:cNvSpPr>
          <p:nvPr>
            <p:ph type="sldNum" sz="quarter" idx="12"/>
          </p:nvPr>
        </p:nvSpPr>
        <p:spPr/>
        <p:txBody>
          <a:bodyPr/>
          <a:lstStyle/>
          <a:p>
            <a:fld id="{B6F15528-21DE-4FAA-801E-634DDDAF4B2B}" type="slidenum">
              <a:rPr lang="en-US" smtClean="0"/>
              <a:t>9</a:t>
            </a:fld>
            <a:endParaRPr lang="en-US"/>
          </a:p>
        </p:txBody>
      </p:sp>
      <p:graphicFrame>
        <p:nvGraphicFramePr>
          <p:cNvPr id="9" name="Google Shape;143;p8">
            <a:extLst>
              <a:ext uri="{FF2B5EF4-FFF2-40B4-BE49-F238E27FC236}">
                <a16:creationId xmlns:a16="http://schemas.microsoft.com/office/drawing/2014/main" id="{D473330F-13FE-159B-C3C4-D2E01C1CD04B}"/>
              </a:ext>
            </a:extLst>
          </p:cNvPr>
          <p:cNvGraphicFramePr/>
          <p:nvPr>
            <p:extLst>
              <p:ext uri="{D42A27DB-BD31-4B8C-83A1-F6EECF244321}">
                <p14:modId xmlns:p14="http://schemas.microsoft.com/office/powerpoint/2010/main" val="2525204747"/>
              </p:ext>
            </p:extLst>
          </p:nvPr>
        </p:nvGraphicFramePr>
        <p:xfrm>
          <a:off x="0" y="1405000"/>
          <a:ext cx="8915400" cy="5229063"/>
        </p:xfrm>
        <a:graphic>
          <a:graphicData uri="http://schemas.openxmlformats.org/drawingml/2006/table">
            <a:tbl>
              <a:tblPr>
                <a:noFill/>
              </a:tblPr>
              <a:tblGrid>
                <a:gridCol w="769208">
                  <a:extLst>
                    <a:ext uri="{9D8B030D-6E8A-4147-A177-3AD203B41FA5}">
                      <a16:colId xmlns:a16="http://schemas.microsoft.com/office/drawing/2014/main" val="20000"/>
                    </a:ext>
                  </a:extLst>
                </a:gridCol>
                <a:gridCol w="1728432">
                  <a:extLst>
                    <a:ext uri="{9D8B030D-6E8A-4147-A177-3AD203B41FA5}">
                      <a16:colId xmlns:a16="http://schemas.microsoft.com/office/drawing/2014/main" val="20001"/>
                    </a:ext>
                  </a:extLst>
                </a:gridCol>
                <a:gridCol w="2490966">
                  <a:extLst>
                    <a:ext uri="{9D8B030D-6E8A-4147-A177-3AD203B41FA5}">
                      <a16:colId xmlns:a16="http://schemas.microsoft.com/office/drawing/2014/main" val="20002"/>
                    </a:ext>
                  </a:extLst>
                </a:gridCol>
                <a:gridCol w="1664890">
                  <a:extLst>
                    <a:ext uri="{9D8B030D-6E8A-4147-A177-3AD203B41FA5}">
                      <a16:colId xmlns:a16="http://schemas.microsoft.com/office/drawing/2014/main" val="20003"/>
                    </a:ext>
                  </a:extLst>
                </a:gridCol>
                <a:gridCol w="2261904">
                  <a:extLst>
                    <a:ext uri="{9D8B030D-6E8A-4147-A177-3AD203B41FA5}">
                      <a16:colId xmlns:a16="http://schemas.microsoft.com/office/drawing/2014/main" val="20004"/>
                    </a:ext>
                  </a:extLst>
                </a:gridCol>
              </a:tblGrid>
              <a:tr h="873847">
                <a:tc>
                  <a:txBody>
                    <a:bodyPr/>
                    <a:lstStyle/>
                    <a:p>
                      <a:pPr marL="0" marR="0" lvl="0" indent="0" algn="ctr" rtl="0">
                        <a:lnSpc>
                          <a:spcPct val="100000"/>
                        </a:lnSpc>
                        <a:spcBef>
                          <a:spcPts val="0"/>
                        </a:spcBef>
                        <a:spcAft>
                          <a:spcPts val="0"/>
                        </a:spcAft>
                        <a:buClr>
                          <a:srgbClr val="000000"/>
                        </a:buClr>
                        <a:buSzPts val="2000"/>
                        <a:buFont typeface="Arial"/>
                        <a:buNone/>
                      </a:pPr>
                      <a:r>
                        <a:rPr lang="en-IN" sz="2000" b="1" i="0" u="none" strike="noStrike" cap="none" dirty="0" err="1">
                          <a:solidFill>
                            <a:srgbClr val="FFFFFF"/>
                          </a:solidFill>
                          <a:latin typeface="Times New Roman"/>
                          <a:ea typeface="Times New Roman"/>
                          <a:cs typeface="Times New Roman"/>
                          <a:sym typeface="Times New Roman"/>
                        </a:rPr>
                        <a:t>S.No</a:t>
                      </a:r>
                      <a:endParaRPr sz="1400" u="none" strike="noStrike" cap="none" dirty="0">
                        <a:latin typeface="Times New Roman"/>
                        <a:ea typeface="Times New Roman"/>
                        <a:cs typeface="Times New Roman"/>
                        <a:sym typeface="Times New Roman"/>
                      </a:endParaRPr>
                    </a:p>
                  </a:txBody>
                  <a:tcPr marL="49050" marR="49050" marT="33650" marB="33650">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2000" b="1" i="0" u="none" strike="noStrike" cap="none" dirty="0">
                          <a:solidFill>
                            <a:srgbClr val="FFFFFF"/>
                          </a:solidFill>
                          <a:latin typeface="Times New Roman"/>
                          <a:ea typeface="Times New Roman"/>
                          <a:cs typeface="Times New Roman"/>
                          <a:sym typeface="Times New Roman"/>
                        </a:rPr>
                        <a:t>Authors</a:t>
                      </a:r>
                      <a:endParaRPr sz="1400" u="none" strike="noStrike" cap="none" dirty="0">
                        <a:latin typeface="Times New Roman"/>
                        <a:ea typeface="Times New Roman"/>
                        <a:cs typeface="Times New Roman"/>
                        <a:sym typeface="Times New Roman"/>
                      </a:endParaRPr>
                    </a:p>
                  </a:txBody>
                  <a:tcPr marL="49050" marR="49050" marT="33650" marB="33650">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2000" b="1" i="0" u="none" strike="noStrike" cap="none" dirty="0">
                          <a:solidFill>
                            <a:srgbClr val="FFFFFF"/>
                          </a:solidFill>
                          <a:latin typeface="Times New Roman"/>
                          <a:ea typeface="Times New Roman"/>
                          <a:cs typeface="Times New Roman"/>
                          <a:sym typeface="Times New Roman"/>
                        </a:rPr>
                        <a:t>Findings</a:t>
                      </a:r>
                      <a:endParaRPr sz="1400" u="none" strike="noStrike" cap="none" dirty="0">
                        <a:latin typeface="Times New Roman"/>
                        <a:ea typeface="Times New Roman"/>
                        <a:cs typeface="Times New Roman"/>
                        <a:sym typeface="Times New Roman"/>
                      </a:endParaRPr>
                    </a:p>
                  </a:txBody>
                  <a:tcPr marL="49050" marR="49050" marT="33650" marB="33650">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2000" b="1" i="0" u="none" strike="noStrike" cap="none" dirty="0">
                          <a:solidFill>
                            <a:srgbClr val="FFFFFF"/>
                          </a:solidFill>
                          <a:latin typeface="Times New Roman"/>
                          <a:ea typeface="Times New Roman"/>
                          <a:cs typeface="Times New Roman"/>
                          <a:sym typeface="Times New Roman"/>
                        </a:rPr>
                        <a:t>Technique</a:t>
                      </a:r>
                      <a:endParaRPr sz="1400" u="none" strike="noStrike" cap="none" dirty="0">
                        <a:latin typeface="Times New Roman"/>
                        <a:ea typeface="Times New Roman"/>
                        <a:cs typeface="Times New Roman"/>
                        <a:sym typeface="Times New Roman"/>
                      </a:endParaRPr>
                    </a:p>
                  </a:txBody>
                  <a:tcPr marL="49050" marR="49050" marT="33650" marB="33650">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i="0" u="none" strike="noStrike" cap="none" dirty="0">
                          <a:solidFill>
                            <a:srgbClr val="FFFFFF"/>
                          </a:solidFill>
                          <a:latin typeface="Times New Roman"/>
                          <a:ea typeface="Times New Roman"/>
                          <a:cs typeface="Times New Roman"/>
                          <a:sym typeface="Times New Roman"/>
                        </a:rPr>
                        <a:t>Limitations</a:t>
                      </a:r>
                      <a:endParaRPr sz="16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br>
                        <a:rPr lang="en-IN" sz="1600" u="none" strike="noStrike" cap="none" dirty="0">
                          <a:latin typeface="Times New Roman"/>
                          <a:ea typeface="Times New Roman"/>
                          <a:cs typeface="Times New Roman"/>
                          <a:sym typeface="Times New Roman"/>
                        </a:rPr>
                      </a:br>
                      <a:endParaRPr sz="1600" u="none" strike="noStrike" cap="none" dirty="0">
                        <a:latin typeface="Times New Roman"/>
                        <a:ea typeface="Times New Roman"/>
                        <a:cs typeface="Times New Roman"/>
                        <a:sym typeface="Times New Roman"/>
                      </a:endParaRPr>
                    </a:p>
                  </a:txBody>
                  <a:tcPr marL="49050" marR="49050" marT="33650" marB="33650">
                    <a:lnL w="12675" cap="flat" cmpd="sng">
                      <a:solidFill>
                        <a:srgbClr val="FFFFFF"/>
                      </a:solidFill>
                      <a:prstDash val="solid"/>
                      <a:round/>
                      <a:headEnd type="none" w="sm" len="sm"/>
                      <a:tailEnd type="none" w="sm" len="sm"/>
                    </a:lnL>
                    <a:lnR w="12675" cap="flat" cmpd="sng">
                      <a:solidFill>
                        <a:srgbClr val="FFFFFF"/>
                      </a:solidFill>
                      <a:prstDash val="solid"/>
                      <a:round/>
                      <a:headEnd type="none" w="sm" len="sm"/>
                      <a:tailEnd type="none" w="sm" len="sm"/>
                    </a:lnR>
                    <a:lnT w="1267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287247">
                <a:tc>
                  <a:txBody>
                    <a:bodyPr/>
                    <a:lstStyle/>
                    <a:p>
                      <a:pPr marL="0" marR="0" lvl="0" indent="0" algn="ctr"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dirty="0">
                          <a:solidFill>
                            <a:srgbClr val="000000"/>
                          </a:solidFill>
                          <a:latin typeface="Times New Roman"/>
                          <a:ea typeface="Times New Roman"/>
                          <a:cs typeface="Times New Roman"/>
                          <a:sym typeface="Times New Roman"/>
                        </a:rPr>
                        <a:t>Ruben </a:t>
                      </a:r>
                      <a:r>
                        <a:rPr lang="en-IN" sz="1600" b="0" i="0" u="none" strike="noStrike" cap="none" dirty="0" err="1">
                          <a:solidFill>
                            <a:srgbClr val="000000"/>
                          </a:solidFill>
                          <a:latin typeface="Times New Roman"/>
                          <a:ea typeface="Times New Roman"/>
                          <a:cs typeface="Times New Roman"/>
                          <a:sym typeface="Times New Roman"/>
                        </a:rPr>
                        <a:t>Hemelings</a:t>
                      </a:r>
                      <a:r>
                        <a:rPr lang="en-IN" sz="1600" b="0" i="0" u="none" strike="noStrike" cap="none" dirty="0">
                          <a:solidFill>
                            <a:srgbClr val="000000"/>
                          </a:solidFill>
                          <a:latin typeface="Times New Roman"/>
                          <a:ea typeface="Times New Roman"/>
                          <a:cs typeface="Times New Roman"/>
                          <a:sym typeface="Times New Roman"/>
                        </a:rPr>
                        <a:t>, Bart Elen, Joao Barbosa‑Breda, Matthew B. </a:t>
                      </a:r>
                      <a:r>
                        <a:rPr lang="en-IN" sz="1600" b="0" i="0" u="none" strike="noStrike" cap="none" dirty="0" err="1">
                          <a:solidFill>
                            <a:srgbClr val="000000"/>
                          </a:solidFill>
                          <a:latin typeface="Times New Roman"/>
                          <a:ea typeface="Times New Roman"/>
                          <a:cs typeface="Times New Roman"/>
                          <a:sym typeface="Times New Roman"/>
                        </a:rPr>
                        <a:t>Blaschko</a:t>
                      </a:r>
                      <a:r>
                        <a:rPr lang="en-IN" sz="1600" b="0" i="0" u="none" strike="noStrike" cap="none" dirty="0">
                          <a:solidFill>
                            <a:srgbClr val="000000"/>
                          </a:solidFill>
                          <a:latin typeface="Times New Roman"/>
                          <a:ea typeface="Times New Roman"/>
                          <a:cs typeface="Times New Roman"/>
                          <a:sym typeface="Times New Roman"/>
                        </a:rPr>
                        <a:t>, Patrick De Boever &amp; Ingeborg </a:t>
                      </a:r>
                      <a:r>
                        <a:rPr lang="en-IN" sz="1600" b="0" i="0" u="none" strike="noStrike" cap="none" dirty="0" err="1">
                          <a:solidFill>
                            <a:srgbClr val="000000"/>
                          </a:solidFill>
                          <a:latin typeface="Times New Roman"/>
                          <a:ea typeface="Times New Roman"/>
                          <a:cs typeface="Times New Roman"/>
                          <a:sym typeface="Times New Roman"/>
                        </a:rPr>
                        <a:t>Stalmans</a:t>
                      </a:r>
                      <a:endParaRPr sz="16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br>
                        <a:rPr lang="en-IN" sz="1600" u="none" strike="noStrike" cap="none" dirty="0">
                          <a:latin typeface="Times New Roman"/>
                          <a:ea typeface="Times New Roman"/>
                          <a:cs typeface="Times New Roman"/>
                          <a:sym typeface="Times New Roman"/>
                        </a:rPr>
                      </a:br>
                      <a:endParaRPr sz="1600" u="none" strike="noStrike" cap="none" dirty="0">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dirty="0">
                          <a:solidFill>
                            <a:srgbClr val="000000"/>
                          </a:solidFill>
                          <a:latin typeface="Times New Roman"/>
                          <a:ea typeface="Times New Roman"/>
                          <a:cs typeface="Times New Roman"/>
                          <a:sym typeface="Times New Roman"/>
                        </a:rPr>
                        <a:t>modified the training images in a standardized manner, this study revealed a recurrent pattern in inferotemporal and </a:t>
                      </a:r>
                      <a:r>
                        <a:rPr lang="en-IN" sz="1600" i="0" u="none" strike="noStrike" cap="none" dirty="0" err="1">
                          <a:solidFill>
                            <a:srgbClr val="000000"/>
                          </a:solidFill>
                          <a:latin typeface="Times New Roman"/>
                          <a:ea typeface="Times New Roman"/>
                          <a:cs typeface="Times New Roman"/>
                          <a:sym typeface="Times New Roman"/>
                        </a:rPr>
                        <a:t>superotemporal</a:t>
                      </a:r>
                      <a:r>
                        <a:rPr lang="en-IN" sz="1600" i="0" u="none" strike="noStrike" cap="none" dirty="0">
                          <a:solidFill>
                            <a:srgbClr val="000000"/>
                          </a:solidFill>
                          <a:latin typeface="Times New Roman"/>
                          <a:ea typeface="Times New Roman"/>
                          <a:cs typeface="Times New Roman"/>
                          <a:sym typeface="Times New Roman"/>
                        </a:rPr>
                        <a:t> regions </a:t>
                      </a:r>
                      <a:r>
                        <a:rPr lang="en-IN" sz="1600" i="0" u="none" strike="noStrike" cap="none" dirty="0" err="1">
                          <a:solidFill>
                            <a:srgbClr val="000000"/>
                          </a:solidFill>
                          <a:latin typeface="Times New Roman"/>
                          <a:ea typeface="Times New Roman"/>
                          <a:cs typeface="Times New Roman"/>
                          <a:sym typeface="Times New Roman"/>
                        </a:rPr>
                        <a:t>neighboring</a:t>
                      </a:r>
                      <a:r>
                        <a:rPr lang="en-IN" sz="1600" i="0" u="none" strike="noStrike" cap="none" dirty="0">
                          <a:solidFill>
                            <a:srgbClr val="000000"/>
                          </a:solidFill>
                          <a:latin typeface="Times New Roman"/>
                          <a:ea typeface="Times New Roman"/>
                          <a:cs typeface="Times New Roman"/>
                          <a:sym typeface="Times New Roman"/>
                        </a:rPr>
                        <a:t> the ONH and the ONH itself.</a:t>
                      </a:r>
                      <a:endParaRPr sz="1600" u="none" strike="noStrike" cap="none" dirty="0">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classification CNN</a:t>
                      </a:r>
                      <a:endParaRPr sz="1600" u="none" strike="noStrike" cap="none">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The proposed model did not explicitly assess the influence of myopic changes, did not analyze the role of the disease stage.</a:t>
                      </a:r>
                      <a:endParaRPr sz="1600" u="none" strike="noStrike" cap="none">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020506">
                <a:tc>
                  <a:txBody>
                    <a:bodyPr/>
                    <a:lstStyle/>
                    <a:p>
                      <a:pPr marL="0" marR="0" lvl="0" indent="0" algn="ctr" rtl="0">
                        <a:lnSpc>
                          <a:spcPct val="100000"/>
                        </a:lnSpc>
                        <a:spcBef>
                          <a:spcPts val="0"/>
                        </a:spcBef>
                        <a:spcAft>
                          <a:spcPts val="0"/>
                        </a:spcAft>
                        <a:buClr>
                          <a:srgbClr val="000000"/>
                        </a:buClr>
                        <a:buSzPts val="1200"/>
                        <a:buFont typeface="Arial"/>
                        <a:buNone/>
                      </a:pPr>
                      <a:r>
                        <a:rPr lang="en-IN" sz="1200" b="0" i="0" u="none" strike="noStrike" cap="none">
                          <a:solidFill>
                            <a:srgbClr val="000000"/>
                          </a:solidFill>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Naganagouda Patil1 &amp; Preethi N. Patil &amp; P. V. Rao</a:t>
                      </a:r>
                      <a:endParaRPr sz="1400" u="none" strike="noStrike" cap="none">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dirty="0">
                          <a:solidFill>
                            <a:srgbClr val="000000"/>
                          </a:solidFill>
                          <a:latin typeface="Times New Roman"/>
                          <a:ea typeface="Times New Roman"/>
                          <a:cs typeface="Times New Roman"/>
                          <a:sym typeface="Times New Roman"/>
                        </a:rPr>
                        <a:t>Image size is the first evaluation with learning rate of 0.1, 0.01, 0.001 and 0.0001. The high performance is achieved with 0.001 learning rate.</a:t>
                      </a:r>
                      <a:endParaRPr sz="1600" u="none" strike="noStrike" cap="none" dirty="0">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deep learning (DL), with deep-belief network (DBN)</a:t>
                      </a:r>
                      <a:endParaRPr sz="1600" u="none" strike="noStrike" cap="none">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600"/>
                        <a:buFont typeface="Arial"/>
                        <a:buNone/>
                      </a:pPr>
                      <a:r>
                        <a:rPr lang="en-IN" sz="1600" i="0" u="none" strike="noStrike" cap="none" dirty="0">
                          <a:solidFill>
                            <a:srgbClr val="000000"/>
                          </a:solidFill>
                          <a:latin typeface="Times New Roman"/>
                          <a:ea typeface="Times New Roman"/>
                          <a:cs typeface="Times New Roman"/>
                          <a:sym typeface="Times New Roman"/>
                        </a:rPr>
                        <a:t>Dataset used is an unbalanced dataset totally 20.92% glaucoma images together with 79.08% normal images are used.</a:t>
                      </a:r>
                      <a:endParaRPr sz="16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br>
                        <a:rPr lang="en-IN" sz="1600" u="none" strike="noStrike" cap="none" dirty="0">
                          <a:latin typeface="Times New Roman"/>
                          <a:ea typeface="Times New Roman"/>
                          <a:cs typeface="Times New Roman"/>
                          <a:sym typeface="Times New Roman"/>
                        </a:rPr>
                      </a:br>
                      <a:endParaRPr sz="1600" u="none" strike="noStrike" cap="none" dirty="0">
                        <a:latin typeface="Times New Roman"/>
                        <a:ea typeface="Times New Roman"/>
                        <a:cs typeface="Times New Roman"/>
                        <a:sym typeface="Times New Roman"/>
                      </a:endParaRPr>
                    </a:p>
                  </a:txBody>
                  <a:tcPr marL="70075" marR="70075" marT="70075" marB="700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0" name="Google Shape;449;p8" descr="DMIHER New LOGO">
            <a:extLst>
              <a:ext uri="{FF2B5EF4-FFF2-40B4-BE49-F238E27FC236}">
                <a16:creationId xmlns:a16="http://schemas.microsoft.com/office/drawing/2014/main" id="{0C60E597-2AE6-7922-B048-F2F49351DADA}"/>
              </a:ext>
            </a:extLst>
          </p:cNvPr>
          <p:cNvPicPr preferRelativeResize="0"/>
          <p:nvPr/>
        </p:nvPicPr>
        <p:blipFill rotWithShape="1">
          <a:blip r:embed="rId2">
            <a:alphaModFix/>
          </a:blip>
          <a:srcRect/>
          <a:stretch/>
        </p:blipFill>
        <p:spPr>
          <a:xfrm>
            <a:off x="76200" y="136525"/>
            <a:ext cx="899746" cy="946639"/>
          </a:xfrm>
          <a:prstGeom prst="rect">
            <a:avLst/>
          </a:prstGeom>
          <a:noFill/>
          <a:ln>
            <a:noFill/>
          </a:ln>
        </p:spPr>
      </p:pic>
      <p:pic>
        <p:nvPicPr>
          <p:cNvPr id="11" name="Google Shape;450;p8">
            <a:extLst>
              <a:ext uri="{FF2B5EF4-FFF2-40B4-BE49-F238E27FC236}">
                <a16:creationId xmlns:a16="http://schemas.microsoft.com/office/drawing/2014/main" id="{7A4A67AE-6484-7C5C-DE46-202D85011455}"/>
              </a:ext>
            </a:extLst>
          </p:cNvPr>
          <p:cNvPicPr preferRelativeResize="0"/>
          <p:nvPr/>
        </p:nvPicPr>
        <p:blipFill rotWithShape="1">
          <a:blip r:embed="rId3">
            <a:alphaModFix/>
          </a:blip>
          <a:srcRect/>
          <a:stretch/>
        </p:blipFill>
        <p:spPr>
          <a:xfrm>
            <a:off x="8001000" y="223937"/>
            <a:ext cx="747346" cy="837201"/>
          </a:xfrm>
          <a:prstGeom prst="ellipse">
            <a:avLst/>
          </a:prstGeom>
          <a:noFill/>
          <a:ln>
            <a:noFill/>
          </a:ln>
          <a:effectLst>
            <a:outerShdw blurRad="381000" dist="292100" dir="5400000" sx="-80000" sy="-18000" rotWithShape="0">
              <a:srgbClr val="000000">
                <a:alpha val="21960"/>
              </a:srgbClr>
            </a:outerShdw>
          </a:effectLst>
        </p:spPr>
      </p:pic>
      <p:sp>
        <p:nvSpPr>
          <p:cNvPr id="447" name="Google Shape;447;p8"/>
          <p:cNvSpPr txBox="1">
            <a:spLocks/>
          </p:cNvSpPr>
          <p:nvPr/>
        </p:nvSpPr>
        <p:spPr>
          <a:xfrm>
            <a:off x="481781" y="533400"/>
            <a:ext cx="8001000" cy="527737"/>
          </a:xfrm>
          <a:prstGeom prst="rect">
            <a:avLst/>
          </a:prstGeom>
          <a:noFill/>
          <a:ln>
            <a:noFill/>
          </a:ln>
        </p:spPr>
        <p:txBody>
          <a:bodyPr spcFirstLastPara="1" wrap="square" lIns="91425" tIns="45700" rIns="91425" bIns="45700" anchor="ctr" anchorCtr="0">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buClr>
                <a:schemeClr val="dk1"/>
              </a:buClr>
              <a:buSzPct val="100000"/>
              <a:buFont typeface="Times New Roman"/>
              <a:buNone/>
            </a:pPr>
            <a:r>
              <a:rPr lang="en-US" sz="3200" b="1" dirty="0">
                <a:latin typeface="Times New Roman"/>
                <a:ea typeface="Times New Roman"/>
                <a:cs typeface="Times New Roman"/>
                <a:sym typeface="Times New Roman"/>
              </a:rPr>
              <a:t>LITERATURE REVIEW</a:t>
            </a:r>
            <a:endParaRPr lang="en-US" sz="3200" dirty="0"/>
          </a:p>
        </p:txBody>
      </p:sp>
    </p:spTree>
    <p:extLst>
      <p:ext uri="{BB962C8B-B14F-4D97-AF65-F5344CB8AC3E}">
        <p14:creationId xmlns:p14="http://schemas.microsoft.com/office/powerpoint/2010/main" val="142442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8A6B09-BD93-5D14-2F87-8725D688B2E7}"/>
              </a:ext>
            </a:extLst>
          </p:cNvPr>
          <p:cNvSpPr>
            <a:spLocks noGrp="1"/>
          </p:cNvSpPr>
          <p:nvPr>
            <p:ph type="dt" sz="half" idx="10"/>
          </p:nvPr>
        </p:nvSpPr>
        <p:spPr/>
        <p:txBody>
          <a:bodyPr/>
          <a:lstStyle/>
          <a:p>
            <a:r>
              <a:rPr lang="en-US"/>
              <a:t>28/08/2020</a:t>
            </a:r>
          </a:p>
        </p:txBody>
      </p:sp>
      <p:sp>
        <p:nvSpPr>
          <p:cNvPr id="3" name="Footer Placeholder 2">
            <a:extLst>
              <a:ext uri="{FF2B5EF4-FFF2-40B4-BE49-F238E27FC236}">
                <a16:creationId xmlns:a16="http://schemas.microsoft.com/office/drawing/2014/main" id="{68F6B021-1774-3EF1-4E44-669C2CE2881D}"/>
              </a:ext>
            </a:extLst>
          </p:cNvPr>
          <p:cNvSpPr>
            <a:spLocks noGrp="1"/>
          </p:cNvSpPr>
          <p:nvPr>
            <p:ph type="ftr" sz="quarter" idx="11"/>
          </p:nvPr>
        </p:nvSpPr>
        <p:spPr/>
        <p:txBody>
          <a:bodyPr/>
          <a:lstStyle/>
          <a:p>
            <a:r>
              <a:rPr lang="en-US"/>
              <a:t>   Datta Meghe Institute of Medical Sciences  Deemed to be University,  Sawangi (Meghe)Wardha</a:t>
            </a:r>
          </a:p>
        </p:txBody>
      </p:sp>
      <p:sp>
        <p:nvSpPr>
          <p:cNvPr id="4" name="Slide Number Placeholder 3">
            <a:extLst>
              <a:ext uri="{FF2B5EF4-FFF2-40B4-BE49-F238E27FC236}">
                <a16:creationId xmlns:a16="http://schemas.microsoft.com/office/drawing/2014/main" id="{04B6A4E3-D8D1-C5A3-3286-BC6A33D23793}"/>
              </a:ext>
            </a:extLst>
          </p:cNvPr>
          <p:cNvSpPr>
            <a:spLocks noGrp="1"/>
          </p:cNvSpPr>
          <p:nvPr>
            <p:ph type="sldNum" sz="quarter" idx="12"/>
          </p:nvPr>
        </p:nvSpPr>
        <p:spPr/>
        <p:txBody>
          <a:bodyPr/>
          <a:lstStyle/>
          <a:p>
            <a:fld id="{B6F15528-21DE-4FAA-801E-634DDDAF4B2B}" type="slidenum">
              <a:rPr lang="en-US" smtClean="0"/>
              <a:t>10</a:t>
            </a:fld>
            <a:endParaRPr lang="en-US"/>
          </a:p>
        </p:txBody>
      </p:sp>
      <p:sp>
        <p:nvSpPr>
          <p:cNvPr id="5" name="Google Shape;150;p9">
            <a:extLst>
              <a:ext uri="{FF2B5EF4-FFF2-40B4-BE49-F238E27FC236}">
                <a16:creationId xmlns:a16="http://schemas.microsoft.com/office/drawing/2014/main" id="{42506813-423F-8004-F965-1EF8721FF6C0}"/>
              </a:ext>
            </a:extLst>
          </p:cNvPr>
          <p:cNvSpPr txBox="1"/>
          <p:nvPr/>
        </p:nvSpPr>
        <p:spPr>
          <a:xfrm>
            <a:off x="-106676" y="2546986"/>
            <a:ext cx="8763001" cy="469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6" name="Google Shape;151;p9">
            <a:extLst>
              <a:ext uri="{FF2B5EF4-FFF2-40B4-BE49-F238E27FC236}">
                <a16:creationId xmlns:a16="http://schemas.microsoft.com/office/drawing/2014/main" id="{9CB0A819-4565-62E4-0138-387CD61DF28C}"/>
              </a:ext>
            </a:extLst>
          </p:cNvPr>
          <p:cNvGraphicFramePr/>
          <p:nvPr>
            <p:extLst>
              <p:ext uri="{D42A27DB-BD31-4B8C-83A1-F6EECF244321}">
                <p14:modId xmlns:p14="http://schemas.microsoft.com/office/powerpoint/2010/main" val="1812540007"/>
              </p:ext>
            </p:extLst>
          </p:nvPr>
        </p:nvGraphicFramePr>
        <p:xfrm>
          <a:off x="76201" y="533401"/>
          <a:ext cx="8763000" cy="5638800"/>
        </p:xfrm>
        <a:graphic>
          <a:graphicData uri="http://schemas.openxmlformats.org/drawingml/2006/table">
            <a:tbl>
              <a:tblPr>
                <a:noFill/>
              </a:tblPr>
              <a:tblGrid>
                <a:gridCol w="775567">
                  <a:extLst>
                    <a:ext uri="{9D8B030D-6E8A-4147-A177-3AD203B41FA5}">
                      <a16:colId xmlns:a16="http://schemas.microsoft.com/office/drawing/2014/main" val="20000"/>
                    </a:ext>
                  </a:extLst>
                </a:gridCol>
                <a:gridCol w="1969751">
                  <a:extLst>
                    <a:ext uri="{9D8B030D-6E8A-4147-A177-3AD203B41FA5}">
                      <a16:colId xmlns:a16="http://schemas.microsoft.com/office/drawing/2014/main" val="20001"/>
                    </a:ext>
                  </a:extLst>
                </a:gridCol>
                <a:gridCol w="2776162">
                  <a:extLst>
                    <a:ext uri="{9D8B030D-6E8A-4147-A177-3AD203B41FA5}">
                      <a16:colId xmlns:a16="http://schemas.microsoft.com/office/drawing/2014/main" val="20002"/>
                    </a:ext>
                  </a:extLst>
                </a:gridCol>
                <a:gridCol w="1488915">
                  <a:extLst>
                    <a:ext uri="{9D8B030D-6E8A-4147-A177-3AD203B41FA5}">
                      <a16:colId xmlns:a16="http://schemas.microsoft.com/office/drawing/2014/main" val="20003"/>
                    </a:ext>
                  </a:extLst>
                </a:gridCol>
                <a:gridCol w="1752605">
                  <a:extLst>
                    <a:ext uri="{9D8B030D-6E8A-4147-A177-3AD203B41FA5}">
                      <a16:colId xmlns:a16="http://schemas.microsoft.com/office/drawing/2014/main" val="20004"/>
                    </a:ext>
                  </a:extLst>
                </a:gridCol>
              </a:tblGrid>
              <a:tr h="3081857">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dirty="0">
                          <a:solidFill>
                            <a:srgbClr val="000000"/>
                          </a:solidFill>
                          <a:latin typeface="Times New Roman"/>
                          <a:ea typeface="Times New Roman"/>
                          <a:cs typeface="Times New Roman"/>
                          <a:sym typeface="Times New Roman"/>
                        </a:rPr>
                        <a:t>3</a:t>
                      </a:r>
                      <a:endParaRPr sz="1600" u="none" strike="noStrike" cap="none" dirty="0">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Oluwatobi Joshua Afolabi , Gugulethu P. Mabuza-hocquet , Fulufhelo V. Nelwamondo, And Babu Sena Paul</a:t>
                      </a:r>
                      <a:endParaRPr sz="1600" u="none" strike="noStrike" cap="none">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The use of CDR threshold of 0.6 may only be suitable for this database. It was found out that extracting 5 features did not give a full view of the changing geometry of the optic cup and disc and extracting more than ten (10) features only resulted into duplication of data</a:t>
                      </a:r>
                      <a:endParaRPr sz="1600" u="none" strike="noStrike" cap="none">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U-Net Lite and Extreme Gradient Boost (XGB)</a:t>
                      </a:r>
                      <a:endParaRPr sz="1600" u="none" strike="noStrike" cap="none">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The proposed model </a:t>
                      </a:r>
                      <a:endParaRPr sz="16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does not works on low quality images.</a:t>
                      </a:r>
                      <a:endParaRPr sz="1600" u="none" strike="noStrike" cap="none">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556943">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Wang Min Liao, BeiJi Zou, RongChang Zhao, Yuan Qiong Chen, ZhiYou He, and MengJie Zhou,</a:t>
                      </a:r>
                      <a:endParaRPr sz="1600" u="none" strike="noStrike" cap="none">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The researchers observed that the result of glaucoma diagnosis is improved with the increasing of optic disc segmentation,removed batch normalization layers and drop out reduced to 0.2 to reduce the overfitting model.</a:t>
                      </a:r>
                      <a:endParaRPr sz="1600" u="none" strike="noStrike" cap="none">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a:solidFill>
                            <a:srgbClr val="000000"/>
                          </a:solidFill>
                          <a:latin typeface="Times New Roman"/>
                          <a:ea typeface="Times New Roman"/>
                          <a:cs typeface="Times New Roman"/>
                          <a:sym typeface="Times New Roman"/>
                        </a:rPr>
                        <a:t>novel clinical interpretable ConvNet architecture (EAMNet)</a:t>
                      </a:r>
                      <a:endParaRPr sz="1600" u="none" strike="noStrike" cap="none">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i="0" u="none" strike="noStrike" cap="none" dirty="0">
                          <a:solidFill>
                            <a:srgbClr val="000000"/>
                          </a:solidFill>
                          <a:latin typeface="Times New Roman"/>
                          <a:ea typeface="Times New Roman"/>
                          <a:cs typeface="Times New Roman"/>
                          <a:sym typeface="Times New Roman"/>
                        </a:rPr>
                        <a:t>This model is worked on ORIGA dataset which is unbalanced dataset because it contains 168 glaucomatous and 482 normal fundus images.</a:t>
                      </a:r>
                      <a:endParaRPr sz="1600" u="none" strike="noStrike" cap="none" dirty="0">
                        <a:latin typeface="Times New Roman"/>
                        <a:ea typeface="Times New Roman"/>
                        <a:cs typeface="Times New Roman"/>
                        <a:sym typeface="Times New Roman"/>
                      </a:endParaRPr>
                    </a:p>
                  </a:txBody>
                  <a:tcPr marL="63975" marR="63975" marT="63975" marB="639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94340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E99C82-2916-4565-DBD5-49BF4615CD71}"/>
              </a:ext>
            </a:extLst>
          </p:cNvPr>
          <p:cNvSpPr>
            <a:spLocks noGrp="1"/>
          </p:cNvSpPr>
          <p:nvPr>
            <p:ph type="dt" sz="half" idx="10"/>
          </p:nvPr>
        </p:nvSpPr>
        <p:spPr/>
        <p:txBody>
          <a:bodyPr/>
          <a:lstStyle/>
          <a:p>
            <a:r>
              <a:rPr lang="en-US"/>
              <a:t>28/08/2020</a:t>
            </a:r>
          </a:p>
        </p:txBody>
      </p:sp>
      <p:sp>
        <p:nvSpPr>
          <p:cNvPr id="3" name="Footer Placeholder 2">
            <a:extLst>
              <a:ext uri="{FF2B5EF4-FFF2-40B4-BE49-F238E27FC236}">
                <a16:creationId xmlns:a16="http://schemas.microsoft.com/office/drawing/2014/main" id="{72A7D702-4896-66DC-A60A-18DCD597FC6E}"/>
              </a:ext>
            </a:extLst>
          </p:cNvPr>
          <p:cNvSpPr>
            <a:spLocks noGrp="1"/>
          </p:cNvSpPr>
          <p:nvPr>
            <p:ph type="ftr" sz="quarter" idx="11"/>
          </p:nvPr>
        </p:nvSpPr>
        <p:spPr/>
        <p:txBody>
          <a:bodyPr/>
          <a:lstStyle/>
          <a:p>
            <a:r>
              <a:rPr lang="en-US"/>
              <a:t>   Datta Meghe Institute of Medical Sciences  Deemed to be University,  Sawangi (Meghe)Wardha</a:t>
            </a:r>
          </a:p>
        </p:txBody>
      </p:sp>
      <p:sp>
        <p:nvSpPr>
          <p:cNvPr id="4" name="Slide Number Placeholder 3">
            <a:extLst>
              <a:ext uri="{FF2B5EF4-FFF2-40B4-BE49-F238E27FC236}">
                <a16:creationId xmlns:a16="http://schemas.microsoft.com/office/drawing/2014/main" id="{BA0425D0-9E7C-18AC-5394-EDC100AA6DDB}"/>
              </a:ext>
            </a:extLst>
          </p:cNvPr>
          <p:cNvSpPr>
            <a:spLocks noGrp="1"/>
          </p:cNvSpPr>
          <p:nvPr>
            <p:ph type="sldNum" sz="quarter" idx="12"/>
          </p:nvPr>
        </p:nvSpPr>
        <p:spPr/>
        <p:txBody>
          <a:bodyPr/>
          <a:lstStyle/>
          <a:p>
            <a:fld id="{B6F15528-21DE-4FAA-801E-634DDDAF4B2B}" type="slidenum">
              <a:rPr lang="en-US" smtClean="0"/>
              <a:t>11</a:t>
            </a:fld>
            <a:endParaRPr lang="en-US"/>
          </a:p>
        </p:txBody>
      </p:sp>
      <p:graphicFrame>
        <p:nvGraphicFramePr>
          <p:cNvPr id="7" name="Google Shape;157;p10">
            <a:extLst>
              <a:ext uri="{FF2B5EF4-FFF2-40B4-BE49-F238E27FC236}">
                <a16:creationId xmlns:a16="http://schemas.microsoft.com/office/drawing/2014/main" id="{20EAEE1A-B567-0860-E96A-DEC75A65284D}"/>
              </a:ext>
            </a:extLst>
          </p:cNvPr>
          <p:cNvGraphicFramePr/>
          <p:nvPr>
            <p:extLst>
              <p:ext uri="{D42A27DB-BD31-4B8C-83A1-F6EECF244321}">
                <p14:modId xmlns:p14="http://schemas.microsoft.com/office/powerpoint/2010/main" val="1226053120"/>
              </p:ext>
            </p:extLst>
          </p:nvPr>
        </p:nvGraphicFramePr>
        <p:xfrm>
          <a:off x="76201" y="685800"/>
          <a:ext cx="9144000" cy="3657600"/>
        </p:xfrm>
        <a:graphic>
          <a:graphicData uri="http://schemas.openxmlformats.org/drawingml/2006/table">
            <a:tbl>
              <a:tblPr>
                <a:noFill/>
              </a:tblPr>
              <a:tblGrid>
                <a:gridCol w="811788">
                  <a:extLst>
                    <a:ext uri="{9D8B030D-6E8A-4147-A177-3AD203B41FA5}">
                      <a16:colId xmlns:a16="http://schemas.microsoft.com/office/drawing/2014/main" val="20000"/>
                    </a:ext>
                  </a:extLst>
                </a:gridCol>
                <a:gridCol w="2452797">
                  <a:extLst>
                    <a:ext uri="{9D8B030D-6E8A-4147-A177-3AD203B41FA5}">
                      <a16:colId xmlns:a16="http://schemas.microsoft.com/office/drawing/2014/main" val="20001"/>
                    </a:ext>
                  </a:extLst>
                </a:gridCol>
                <a:gridCol w="2221815">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657600">
                <a:tc>
                  <a:txBody>
                    <a:bodyPr/>
                    <a:lstStyle/>
                    <a:p>
                      <a:pPr marL="0" marR="0" lvl="0" indent="0" algn="l" rtl="0">
                        <a:lnSpc>
                          <a:spcPct val="100000"/>
                        </a:lnSpc>
                        <a:spcBef>
                          <a:spcPts val="0"/>
                        </a:spcBef>
                        <a:spcAft>
                          <a:spcPts val="0"/>
                        </a:spcAft>
                        <a:buClr>
                          <a:srgbClr val="000000"/>
                        </a:buClr>
                        <a:buSzPts val="1700"/>
                        <a:buFont typeface="Arial"/>
                        <a:buNone/>
                      </a:pPr>
                      <a:r>
                        <a:rPr lang="en-IN" sz="1700" b="0" i="0" u="none" strike="noStrike" cap="none">
                          <a:solidFill>
                            <a:srgbClr val="000000"/>
                          </a:solidFill>
                          <a:latin typeface="Times New Roman"/>
                          <a:ea typeface="Times New Roman"/>
                          <a:cs typeface="Times New Roman"/>
                          <a:sym typeface="Times New Roman"/>
                        </a:rPr>
                        <a:t>5</a:t>
                      </a:r>
                      <a:endParaRPr sz="1700" u="none" strike="noStrike" cap="none"/>
                    </a:p>
                  </a:txBody>
                  <a:tcPr marL="89000" marR="89000" marT="89000" marB="890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sz="1700" b="0" i="0" u="none" strike="noStrike" cap="none">
                          <a:solidFill>
                            <a:srgbClr val="000000"/>
                          </a:solidFill>
                          <a:latin typeface="Times New Roman"/>
                          <a:ea typeface="Times New Roman"/>
                          <a:cs typeface="Times New Roman"/>
                          <a:sym typeface="Times New Roman"/>
                        </a:rPr>
                        <a:t>Guangzhou An, Kazuko Omodaka, Kazuki Hashimoto, Satoru Tsuda, </a:t>
                      </a:r>
                      <a:endParaRPr sz="1700" u="none" strike="noStrike" cap="none"/>
                    </a:p>
                    <a:p>
                      <a:pPr marL="0" marR="0" lvl="0" indent="0" algn="l" rtl="0">
                        <a:lnSpc>
                          <a:spcPct val="100000"/>
                        </a:lnSpc>
                        <a:spcBef>
                          <a:spcPts val="0"/>
                        </a:spcBef>
                        <a:spcAft>
                          <a:spcPts val="0"/>
                        </a:spcAft>
                        <a:buClr>
                          <a:srgbClr val="000000"/>
                        </a:buClr>
                        <a:buSzPts val="1700"/>
                        <a:buFont typeface="Arial"/>
                        <a:buNone/>
                      </a:pPr>
                      <a:r>
                        <a:rPr lang="en-IN" sz="1700" b="0" i="0" u="none" strike="noStrike" cap="none">
                          <a:solidFill>
                            <a:srgbClr val="000000"/>
                          </a:solidFill>
                          <a:latin typeface="Times New Roman"/>
                          <a:ea typeface="Times New Roman"/>
                          <a:cs typeface="Times New Roman"/>
                          <a:sym typeface="Times New Roman"/>
                        </a:rPr>
                        <a:t> Yukihiro Shiga, Naoko Takada,Tsutomu Kikawa, Hideo Yokota,</a:t>
                      </a:r>
                      <a:endParaRPr sz="1700" u="none" strike="noStrike" cap="none"/>
                    </a:p>
                    <a:p>
                      <a:pPr marL="0" marR="0" lvl="0" indent="0" algn="l" rtl="0">
                        <a:lnSpc>
                          <a:spcPct val="100000"/>
                        </a:lnSpc>
                        <a:spcBef>
                          <a:spcPts val="0"/>
                        </a:spcBef>
                        <a:spcAft>
                          <a:spcPts val="0"/>
                        </a:spcAft>
                        <a:buClr>
                          <a:srgbClr val="000000"/>
                        </a:buClr>
                        <a:buSzPts val="1700"/>
                        <a:buFont typeface="Arial"/>
                        <a:buNone/>
                      </a:pPr>
                      <a:r>
                        <a:rPr lang="en-IN" sz="1700" b="0" i="0" u="none" strike="noStrike" cap="none">
                          <a:solidFill>
                            <a:srgbClr val="000000"/>
                          </a:solidFill>
                          <a:latin typeface="Times New Roman"/>
                          <a:ea typeface="Times New Roman"/>
                          <a:cs typeface="Times New Roman"/>
                          <a:sym typeface="Times New Roman"/>
                        </a:rPr>
                        <a:t> Masahiro Akiba and Toru Nakazawa</a:t>
                      </a:r>
                      <a:endParaRPr sz="1700" u="none" strike="noStrike" cap="none"/>
                    </a:p>
                    <a:p>
                      <a:pPr marL="0" marR="0" lvl="0" indent="0" algn="l" rtl="0">
                        <a:lnSpc>
                          <a:spcPct val="100000"/>
                        </a:lnSpc>
                        <a:spcBef>
                          <a:spcPts val="0"/>
                        </a:spcBef>
                        <a:spcAft>
                          <a:spcPts val="0"/>
                        </a:spcAft>
                        <a:buClr>
                          <a:srgbClr val="000000"/>
                        </a:buClr>
                        <a:buSzPts val="1700"/>
                        <a:buFont typeface="Arial"/>
                        <a:buNone/>
                      </a:pPr>
                      <a:br>
                        <a:rPr lang="en-IN" sz="1700" u="none" strike="noStrike" cap="none"/>
                      </a:br>
                      <a:endParaRPr sz="1700" u="none" strike="noStrike" cap="none"/>
                    </a:p>
                  </a:txBody>
                  <a:tcPr marL="89000" marR="89000" marT="89000" marB="890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sz="1700" b="0" i="0" u="none" strike="noStrike" cap="none" dirty="0">
                          <a:solidFill>
                            <a:srgbClr val="000000"/>
                          </a:solidFill>
                          <a:latin typeface="Times New Roman"/>
                          <a:ea typeface="Times New Roman"/>
                          <a:cs typeface="Times New Roman"/>
                          <a:sym typeface="Times New Roman"/>
                        </a:rPr>
                        <a:t>The machine  learning system described can accurately differentiate between healthy and glaucomatous subjects based on their extracted</a:t>
                      </a:r>
                      <a:endParaRPr sz="1700" u="none" strike="noStrike" cap="none" dirty="0"/>
                    </a:p>
                    <a:p>
                      <a:pPr marL="0" marR="0" lvl="0" indent="0" algn="l" rtl="0">
                        <a:lnSpc>
                          <a:spcPct val="100000"/>
                        </a:lnSpc>
                        <a:spcBef>
                          <a:spcPts val="0"/>
                        </a:spcBef>
                        <a:spcAft>
                          <a:spcPts val="0"/>
                        </a:spcAft>
                        <a:buClr>
                          <a:srgbClr val="000000"/>
                        </a:buClr>
                        <a:buSzPts val="1700"/>
                        <a:buFont typeface="Arial"/>
                        <a:buNone/>
                      </a:pPr>
                      <a:r>
                        <a:rPr lang="en-IN" sz="1700" b="0" i="0" u="none" strike="noStrike" cap="none" dirty="0">
                          <a:solidFill>
                            <a:srgbClr val="000000"/>
                          </a:solidFill>
                          <a:latin typeface="Times New Roman"/>
                          <a:ea typeface="Times New Roman"/>
                          <a:cs typeface="Times New Roman"/>
                          <a:sym typeface="Times New Roman"/>
                        </a:rPr>
                        <a:t>images from OCT data and </a:t>
                      </a:r>
                      <a:r>
                        <a:rPr lang="en-IN" sz="1700" b="0" i="0" u="none" strike="noStrike" cap="none" dirty="0" err="1">
                          <a:solidFill>
                            <a:srgbClr val="000000"/>
                          </a:solidFill>
                          <a:latin typeface="Times New Roman"/>
                          <a:ea typeface="Times New Roman"/>
                          <a:cs typeface="Times New Roman"/>
                          <a:sym typeface="Times New Roman"/>
                        </a:rPr>
                        <a:t>color</a:t>
                      </a:r>
                      <a:r>
                        <a:rPr lang="en-IN" sz="1700" b="0" i="0" u="none" strike="noStrike" cap="none" dirty="0">
                          <a:solidFill>
                            <a:srgbClr val="000000"/>
                          </a:solidFill>
                          <a:latin typeface="Times New Roman"/>
                          <a:ea typeface="Times New Roman"/>
                          <a:cs typeface="Times New Roman"/>
                          <a:sym typeface="Times New Roman"/>
                        </a:rPr>
                        <a:t> fundus images.</a:t>
                      </a:r>
                      <a:endParaRPr sz="1700" u="none" strike="noStrike" cap="none" dirty="0"/>
                    </a:p>
                    <a:p>
                      <a:pPr marL="0" marR="0" lvl="0" indent="0" algn="l" rtl="0">
                        <a:lnSpc>
                          <a:spcPct val="100000"/>
                        </a:lnSpc>
                        <a:spcBef>
                          <a:spcPts val="0"/>
                        </a:spcBef>
                        <a:spcAft>
                          <a:spcPts val="0"/>
                        </a:spcAft>
                        <a:buClr>
                          <a:srgbClr val="000000"/>
                        </a:buClr>
                        <a:buSzPts val="1700"/>
                        <a:buFont typeface="Arial"/>
                        <a:buNone/>
                      </a:pPr>
                      <a:br>
                        <a:rPr lang="en-IN" sz="1700" u="none" strike="noStrike" cap="none" dirty="0"/>
                      </a:br>
                      <a:br>
                        <a:rPr lang="en-IN" sz="1700" u="none" strike="noStrike" cap="none" dirty="0"/>
                      </a:br>
                      <a:endParaRPr sz="1700" u="none" strike="noStrike" cap="none" dirty="0"/>
                    </a:p>
                  </a:txBody>
                  <a:tcPr marL="89000" marR="89000" marT="89000" marB="890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sz="1700" b="0" i="0" u="none" strike="noStrike" cap="none">
                          <a:solidFill>
                            <a:srgbClr val="000000"/>
                          </a:solidFill>
                          <a:latin typeface="Times New Roman"/>
                          <a:ea typeface="Times New Roman"/>
                          <a:cs typeface="Times New Roman"/>
                          <a:sym typeface="Times New Roman"/>
                        </a:rPr>
                        <a:t>optical coherence tomography and Transfer learning of convolutional neural network</a:t>
                      </a:r>
                      <a:endParaRPr sz="1700" u="none" strike="noStrike" cap="none"/>
                    </a:p>
                  </a:txBody>
                  <a:tcPr marL="89000" marR="89000" marT="89000" marB="890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sz="1700" b="0" i="0" u="none" strike="noStrike" cap="none" dirty="0">
                          <a:solidFill>
                            <a:srgbClr val="000000"/>
                          </a:solidFill>
                          <a:latin typeface="Times New Roman"/>
                          <a:ea typeface="Times New Roman"/>
                          <a:cs typeface="Times New Roman"/>
                          <a:sym typeface="Times New Roman"/>
                        </a:rPr>
                        <a:t>This study include a relatively small study </a:t>
                      </a:r>
                      <a:endParaRPr sz="1700" u="none" strike="noStrike" cap="none" dirty="0"/>
                    </a:p>
                    <a:p>
                      <a:pPr marL="0" marR="0" lvl="0" indent="0" algn="l" rtl="0">
                        <a:lnSpc>
                          <a:spcPct val="100000"/>
                        </a:lnSpc>
                        <a:spcBef>
                          <a:spcPts val="0"/>
                        </a:spcBef>
                        <a:spcAft>
                          <a:spcPts val="0"/>
                        </a:spcAft>
                        <a:buClr>
                          <a:srgbClr val="000000"/>
                        </a:buClr>
                        <a:buSzPts val="1700"/>
                        <a:buFont typeface="Arial"/>
                        <a:buNone/>
                      </a:pPr>
                      <a:r>
                        <a:rPr lang="en-IN" sz="1700" b="0" i="0" u="none" strike="noStrike" cap="none" dirty="0">
                          <a:solidFill>
                            <a:srgbClr val="000000"/>
                          </a:solidFill>
                          <a:latin typeface="Times New Roman"/>
                          <a:ea typeface="Times New Roman"/>
                          <a:cs typeface="Times New Roman"/>
                          <a:sym typeface="Times New Roman"/>
                        </a:rPr>
                        <a:t>population.</a:t>
                      </a:r>
                      <a:endParaRPr sz="1700" u="none" strike="noStrike" cap="none" dirty="0"/>
                    </a:p>
                    <a:p>
                      <a:pPr marL="0" marR="0" lvl="0" indent="0" algn="l" rtl="0">
                        <a:lnSpc>
                          <a:spcPct val="100000"/>
                        </a:lnSpc>
                        <a:spcBef>
                          <a:spcPts val="0"/>
                        </a:spcBef>
                        <a:spcAft>
                          <a:spcPts val="0"/>
                        </a:spcAft>
                        <a:buClr>
                          <a:srgbClr val="000000"/>
                        </a:buClr>
                        <a:buSzPts val="1700"/>
                        <a:buFont typeface="Arial"/>
                        <a:buNone/>
                      </a:pPr>
                      <a:br>
                        <a:rPr lang="en-IN" sz="1700" u="none" strike="noStrike" cap="none" dirty="0"/>
                      </a:br>
                      <a:endParaRPr sz="1700" u="none" strike="noStrike" cap="none" dirty="0"/>
                    </a:p>
                  </a:txBody>
                  <a:tcPr marL="89000" marR="89000" marT="89000" marB="890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2526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973EB1A-AC94-7292-B630-208DE183517C}"/>
              </a:ext>
            </a:extLst>
          </p:cNvPr>
          <p:cNvSpPr>
            <a:spLocks noGrp="1"/>
          </p:cNvSpPr>
          <p:nvPr>
            <p:ph type="dt" sz="half" idx="10"/>
          </p:nvPr>
        </p:nvSpPr>
        <p:spPr/>
        <p:txBody>
          <a:bodyPr/>
          <a:lstStyle/>
          <a:p>
            <a:r>
              <a:rPr lang="en-US"/>
              <a:t>28/08/2020</a:t>
            </a:r>
          </a:p>
        </p:txBody>
      </p:sp>
      <p:sp>
        <p:nvSpPr>
          <p:cNvPr id="4" name="Footer Placeholder 3">
            <a:extLst>
              <a:ext uri="{FF2B5EF4-FFF2-40B4-BE49-F238E27FC236}">
                <a16:creationId xmlns:a16="http://schemas.microsoft.com/office/drawing/2014/main" id="{4E5B4E1C-1A9C-4B73-7B10-3549EF848140}"/>
              </a:ext>
            </a:extLst>
          </p:cNvPr>
          <p:cNvSpPr>
            <a:spLocks noGrp="1"/>
          </p:cNvSpPr>
          <p:nvPr>
            <p:ph type="ftr" sz="quarter" idx="11"/>
          </p:nvPr>
        </p:nvSpPr>
        <p:spPr/>
        <p:txBody>
          <a:bodyPr/>
          <a:lstStyle/>
          <a:p>
            <a:r>
              <a:rPr lang="en-US"/>
              <a:t>   Datta Meghe Institute of Medical Sciences  Deemed to be University,  Sawangi (Meghe)Wardha</a:t>
            </a:r>
          </a:p>
        </p:txBody>
      </p:sp>
      <p:sp>
        <p:nvSpPr>
          <p:cNvPr id="5" name="Slide Number Placeholder 4">
            <a:extLst>
              <a:ext uri="{FF2B5EF4-FFF2-40B4-BE49-F238E27FC236}">
                <a16:creationId xmlns:a16="http://schemas.microsoft.com/office/drawing/2014/main" id="{63334FF7-2023-208D-303B-10931588AE54}"/>
              </a:ext>
            </a:extLst>
          </p:cNvPr>
          <p:cNvSpPr>
            <a:spLocks noGrp="1"/>
          </p:cNvSpPr>
          <p:nvPr>
            <p:ph type="sldNum" sz="quarter" idx="12"/>
          </p:nvPr>
        </p:nvSpPr>
        <p:spPr/>
        <p:txBody>
          <a:bodyPr/>
          <a:lstStyle/>
          <a:p>
            <a:fld id="{B6F15528-21DE-4FAA-801E-634DDDAF4B2B}" type="slidenum">
              <a:rPr lang="en-US" smtClean="0"/>
              <a:t>12</a:t>
            </a:fld>
            <a:endParaRPr lang="en-US"/>
          </a:p>
        </p:txBody>
      </p:sp>
      <p:sp>
        <p:nvSpPr>
          <p:cNvPr id="6" name="Google Shape;447;p8">
            <a:extLst>
              <a:ext uri="{FF2B5EF4-FFF2-40B4-BE49-F238E27FC236}">
                <a16:creationId xmlns:a16="http://schemas.microsoft.com/office/drawing/2014/main" id="{F120264D-9458-E3C0-C99E-405208C952F1}"/>
              </a:ext>
            </a:extLst>
          </p:cNvPr>
          <p:cNvSpPr txBox="1">
            <a:spLocks noGrp="1"/>
          </p:cNvSpPr>
          <p:nvPr>
            <p:ph type="title"/>
          </p:nvPr>
        </p:nvSpPr>
        <p:spPr>
          <a:xfrm>
            <a:off x="457200" y="274638"/>
            <a:ext cx="8229600" cy="4873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IN" sz="3600" b="1" dirty="0">
                <a:latin typeface="Times New Roman"/>
                <a:ea typeface="Times New Roman"/>
                <a:cs typeface="Times New Roman"/>
                <a:sym typeface="Times New Roman"/>
              </a:rPr>
              <a:t>Dataset Description</a:t>
            </a:r>
            <a:endParaRPr sz="3200" dirty="0"/>
          </a:p>
        </p:txBody>
      </p:sp>
      <p:pic>
        <p:nvPicPr>
          <p:cNvPr id="9" name="Google Shape;450;p8">
            <a:extLst>
              <a:ext uri="{FF2B5EF4-FFF2-40B4-BE49-F238E27FC236}">
                <a16:creationId xmlns:a16="http://schemas.microsoft.com/office/drawing/2014/main" id="{9A8DFC21-AB07-492D-6176-C14FC8ABA7ED}"/>
              </a:ext>
            </a:extLst>
          </p:cNvPr>
          <p:cNvPicPr preferRelativeResize="0"/>
          <p:nvPr/>
        </p:nvPicPr>
        <p:blipFill rotWithShape="1">
          <a:blip r:embed="rId2">
            <a:alphaModFix/>
          </a:blip>
          <a:srcRect/>
          <a:stretch/>
        </p:blipFill>
        <p:spPr>
          <a:xfrm>
            <a:off x="8077200" y="223937"/>
            <a:ext cx="671146" cy="690463"/>
          </a:xfrm>
          <a:prstGeom prst="ellipse">
            <a:avLst/>
          </a:prstGeom>
          <a:noFill/>
          <a:ln>
            <a:noFill/>
          </a:ln>
          <a:effectLst>
            <a:outerShdw blurRad="381000" dist="292100" dir="5400000" sx="-80000" sy="-18000" rotWithShape="0">
              <a:srgbClr val="000000">
                <a:alpha val="21960"/>
              </a:srgbClr>
            </a:outerShdw>
          </a:effectLst>
        </p:spPr>
      </p:pic>
      <p:pic>
        <p:nvPicPr>
          <p:cNvPr id="10" name="Google Shape;449;p8" descr="DMIHER New LOGO">
            <a:extLst>
              <a:ext uri="{FF2B5EF4-FFF2-40B4-BE49-F238E27FC236}">
                <a16:creationId xmlns:a16="http://schemas.microsoft.com/office/drawing/2014/main" id="{E841C0DE-7C50-DB92-AFD6-1F6D77FB1C08}"/>
              </a:ext>
            </a:extLst>
          </p:cNvPr>
          <p:cNvPicPr preferRelativeResize="0"/>
          <p:nvPr/>
        </p:nvPicPr>
        <p:blipFill rotWithShape="1">
          <a:blip r:embed="rId3">
            <a:alphaModFix/>
          </a:blip>
          <a:srcRect/>
          <a:stretch/>
        </p:blipFill>
        <p:spPr>
          <a:xfrm>
            <a:off x="137746" y="46038"/>
            <a:ext cx="838200" cy="868362"/>
          </a:xfrm>
          <a:prstGeom prst="rect">
            <a:avLst/>
          </a:prstGeom>
          <a:noFill/>
          <a:ln>
            <a:noFill/>
          </a:ln>
        </p:spPr>
      </p:pic>
      <p:sp>
        <p:nvSpPr>
          <p:cNvPr id="16" name="TextBox 15">
            <a:extLst>
              <a:ext uri="{FF2B5EF4-FFF2-40B4-BE49-F238E27FC236}">
                <a16:creationId xmlns:a16="http://schemas.microsoft.com/office/drawing/2014/main" id="{1B34B45D-F184-9A3D-32F4-18A6555E582D}"/>
              </a:ext>
            </a:extLst>
          </p:cNvPr>
          <p:cNvSpPr txBox="1"/>
          <p:nvPr/>
        </p:nvSpPr>
        <p:spPr>
          <a:xfrm>
            <a:off x="395654" y="778382"/>
            <a:ext cx="8443546" cy="4247317"/>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ACRIMA </a:t>
            </a:r>
          </a:p>
          <a:p>
            <a:r>
              <a:rPr lang="en-US" dirty="0">
                <a:latin typeface="Times New Roman" panose="02020603050405020304" pitchFamily="18" charset="0"/>
                <a:cs typeface="Times New Roman" panose="02020603050405020304" pitchFamily="18" charset="0"/>
              </a:rPr>
              <a:t>ACRIMA database is composed by 705 fundus images All images from ACRIMA database were annotated by glaucoma experts with several years of experience. They were cropped around the optic disc and renamed.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DRISHTI-GS </a:t>
            </a:r>
          </a:p>
          <a:p>
            <a:r>
              <a:rPr lang="en-US" dirty="0">
                <a:latin typeface="Times New Roman" panose="02020603050405020304" pitchFamily="18" charset="0"/>
                <a:cs typeface="Times New Roman" panose="02020603050405020304" pitchFamily="18" charset="0"/>
              </a:rPr>
              <a:t>This Dataset contains 50 train images and 51 test Images. In Each Directory there are two folders one is images and the second one is GT. The later folder contains Optic Disk and Cup masks associated with the images in the Images folder. </a:t>
            </a:r>
          </a:p>
          <a:p>
            <a:r>
              <a:rPr lang="en-US" dirty="0">
                <a:latin typeface="Times New Roman" panose="02020603050405020304" pitchFamily="18" charset="0"/>
                <a:cs typeface="Times New Roman" panose="02020603050405020304" pitchFamily="18" charset="0"/>
              </a:rPr>
              <a:t>RIMONE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RIM-ONE </a:t>
            </a:r>
          </a:p>
          <a:p>
            <a:r>
              <a:rPr lang="en-US" dirty="0">
                <a:latin typeface="Times New Roman" panose="02020603050405020304" pitchFamily="18" charset="0"/>
                <a:cs typeface="Times New Roman" panose="02020603050405020304" pitchFamily="18" charset="0"/>
              </a:rPr>
              <a:t>database contains 169 optic nerve head images. Each image has 5 manual segmentations from ophthalmic experts. A gold standard for each image was created from its corresponding segmentations.</a:t>
            </a:r>
          </a:p>
        </p:txBody>
      </p:sp>
    </p:spTree>
    <p:extLst>
      <p:ext uri="{BB962C8B-B14F-4D97-AF65-F5344CB8AC3E}">
        <p14:creationId xmlns:p14="http://schemas.microsoft.com/office/powerpoint/2010/main" val="238385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54B8C89-A839-54E3-993C-D240625708AA}"/>
              </a:ext>
            </a:extLst>
          </p:cNvPr>
          <p:cNvSpPr>
            <a:spLocks noGrp="1"/>
          </p:cNvSpPr>
          <p:nvPr>
            <p:ph type="dt" sz="half" idx="10"/>
          </p:nvPr>
        </p:nvSpPr>
        <p:spPr/>
        <p:txBody>
          <a:bodyPr/>
          <a:lstStyle/>
          <a:p>
            <a:r>
              <a:rPr lang="en-US">
                <a:solidFill>
                  <a:prstClr val="black">
                    <a:tint val="75000"/>
                  </a:prstClr>
                </a:solidFill>
              </a:rPr>
              <a:t>28/08/2020</a:t>
            </a:r>
          </a:p>
        </p:txBody>
      </p:sp>
      <p:sp>
        <p:nvSpPr>
          <p:cNvPr id="4" name="Footer Placeholder 3">
            <a:extLst>
              <a:ext uri="{FF2B5EF4-FFF2-40B4-BE49-F238E27FC236}">
                <a16:creationId xmlns:a16="http://schemas.microsoft.com/office/drawing/2014/main" id="{0469A6D5-5D31-5841-4C8D-0FEA6C4BC362}"/>
              </a:ext>
            </a:extLst>
          </p:cNvPr>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5" name="Slide Number Placeholder 4">
            <a:extLst>
              <a:ext uri="{FF2B5EF4-FFF2-40B4-BE49-F238E27FC236}">
                <a16:creationId xmlns:a16="http://schemas.microsoft.com/office/drawing/2014/main" id="{60E9CCA5-A29B-3615-2BD0-4677A5160665}"/>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t>13</a:t>
            </a:fld>
            <a:endParaRPr lang="en-US">
              <a:solidFill>
                <a:prstClr val="black">
                  <a:tint val="75000"/>
                </a:prstClr>
              </a:solidFill>
            </a:endParaRPr>
          </a:p>
        </p:txBody>
      </p:sp>
      <p:sp>
        <p:nvSpPr>
          <p:cNvPr id="6" name="Rectangle 5">
            <a:extLst>
              <a:ext uri="{FF2B5EF4-FFF2-40B4-BE49-F238E27FC236}">
                <a16:creationId xmlns:a16="http://schemas.microsoft.com/office/drawing/2014/main" id="{096C0D03-ED49-EF57-2A86-D02D8B96A028}"/>
              </a:ext>
            </a:extLst>
          </p:cNvPr>
          <p:cNvSpPr/>
          <p:nvPr/>
        </p:nvSpPr>
        <p:spPr>
          <a:xfrm>
            <a:off x="266700" y="1120325"/>
            <a:ext cx="1028700" cy="7619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ACRIMA</a:t>
            </a:r>
            <a:endParaRPr lang="en-IN" sz="1400" dirty="0"/>
          </a:p>
        </p:txBody>
      </p:sp>
      <p:sp>
        <p:nvSpPr>
          <p:cNvPr id="7" name="Rectangle 6">
            <a:extLst>
              <a:ext uri="{FF2B5EF4-FFF2-40B4-BE49-F238E27FC236}">
                <a16:creationId xmlns:a16="http://schemas.microsoft.com/office/drawing/2014/main" id="{2B7F9C15-3D73-8FF4-AAE0-B4408B7679B5}"/>
              </a:ext>
            </a:extLst>
          </p:cNvPr>
          <p:cNvSpPr/>
          <p:nvPr/>
        </p:nvSpPr>
        <p:spPr>
          <a:xfrm>
            <a:off x="272728" y="2387663"/>
            <a:ext cx="1028700" cy="5524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RIMONE</a:t>
            </a:r>
            <a:endParaRPr lang="en-IN" sz="1400" dirty="0"/>
          </a:p>
        </p:txBody>
      </p:sp>
      <p:sp>
        <p:nvSpPr>
          <p:cNvPr id="8" name="Rectangle 7">
            <a:extLst>
              <a:ext uri="{FF2B5EF4-FFF2-40B4-BE49-F238E27FC236}">
                <a16:creationId xmlns:a16="http://schemas.microsoft.com/office/drawing/2014/main" id="{A8BEAFCF-6FF1-9428-49CD-9A621C87DB2D}"/>
              </a:ext>
            </a:extLst>
          </p:cNvPr>
          <p:cNvSpPr/>
          <p:nvPr/>
        </p:nvSpPr>
        <p:spPr>
          <a:xfrm>
            <a:off x="266700" y="3797301"/>
            <a:ext cx="1028700" cy="5524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err="1"/>
              <a:t>DRISHTi</a:t>
            </a:r>
            <a:endParaRPr lang="en-IN" dirty="0"/>
          </a:p>
        </p:txBody>
      </p:sp>
      <p:sp>
        <p:nvSpPr>
          <p:cNvPr id="9" name="Oval 8">
            <a:extLst>
              <a:ext uri="{FF2B5EF4-FFF2-40B4-BE49-F238E27FC236}">
                <a16:creationId xmlns:a16="http://schemas.microsoft.com/office/drawing/2014/main" id="{992D23FC-14EA-0F88-7BE1-C1173EE4727A}"/>
              </a:ext>
            </a:extLst>
          </p:cNvPr>
          <p:cNvSpPr/>
          <p:nvPr/>
        </p:nvSpPr>
        <p:spPr>
          <a:xfrm>
            <a:off x="1929114" y="1752600"/>
            <a:ext cx="990600" cy="11049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COMBINED</a:t>
            </a:r>
            <a:endParaRPr lang="en-IN" sz="1400" dirty="0"/>
          </a:p>
        </p:txBody>
      </p:sp>
      <p:cxnSp>
        <p:nvCxnSpPr>
          <p:cNvPr id="11" name="Straight Connector 10">
            <a:extLst>
              <a:ext uri="{FF2B5EF4-FFF2-40B4-BE49-F238E27FC236}">
                <a16:creationId xmlns:a16="http://schemas.microsoft.com/office/drawing/2014/main" id="{4AF17617-8D63-352D-73EF-C16293C876E0}"/>
              </a:ext>
            </a:extLst>
          </p:cNvPr>
          <p:cNvCxnSpPr>
            <a:cxnSpLocks/>
            <a:stCxn id="6" idx="3"/>
            <a:endCxn id="9" idx="2"/>
          </p:cNvCxnSpPr>
          <p:nvPr/>
        </p:nvCxnSpPr>
        <p:spPr>
          <a:xfrm>
            <a:off x="1295400" y="1501325"/>
            <a:ext cx="633714" cy="803725"/>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BEFCF629-5B9E-1D6F-314C-1C281BBA9688}"/>
              </a:ext>
            </a:extLst>
          </p:cNvPr>
          <p:cNvCxnSpPr>
            <a:cxnSpLocks/>
            <a:stCxn id="7" idx="3"/>
            <a:endCxn id="9" idx="2"/>
          </p:cNvCxnSpPr>
          <p:nvPr/>
        </p:nvCxnSpPr>
        <p:spPr>
          <a:xfrm flipV="1">
            <a:off x="1301428" y="2305050"/>
            <a:ext cx="627686" cy="3588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9B94A11-E64E-52C6-8BA9-B2AF9E7B3771}"/>
              </a:ext>
            </a:extLst>
          </p:cNvPr>
          <p:cNvCxnSpPr>
            <a:cxnSpLocks/>
            <a:stCxn id="8" idx="3"/>
            <a:endCxn id="9" idx="2"/>
          </p:cNvCxnSpPr>
          <p:nvPr/>
        </p:nvCxnSpPr>
        <p:spPr>
          <a:xfrm flipV="1">
            <a:off x="1295400" y="2305050"/>
            <a:ext cx="633714" cy="1768476"/>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6260611-6EDD-9DBC-6A63-D2DB7F2A62D3}"/>
              </a:ext>
            </a:extLst>
          </p:cNvPr>
          <p:cNvSpPr/>
          <p:nvPr/>
        </p:nvSpPr>
        <p:spPr>
          <a:xfrm>
            <a:off x="3516775" y="1752600"/>
            <a:ext cx="1371602" cy="11811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Data  Augmentation Using Image Data Generator</a:t>
            </a:r>
            <a:endParaRPr lang="en-IN" sz="1400" dirty="0"/>
          </a:p>
        </p:txBody>
      </p:sp>
      <p:sp>
        <p:nvSpPr>
          <p:cNvPr id="34" name="Rectangle 33">
            <a:extLst>
              <a:ext uri="{FF2B5EF4-FFF2-40B4-BE49-F238E27FC236}">
                <a16:creationId xmlns:a16="http://schemas.microsoft.com/office/drawing/2014/main" id="{F8B32884-8C50-0FC1-2F7A-7A6148ACE288}"/>
              </a:ext>
            </a:extLst>
          </p:cNvPr>
          <p:cNvSpPr/>
          <p:nvPr/>
        </p:nvSpPr>
        <p:spPr>
          <a:xfrm>
            <a:off x="5334000" y="1828800"/>
            <a:ext cx="1371602" cy="10287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Feature Selection using CNN</a:t>
            </a:r>
            <a:endParaRPr lang="en-IN" sz="1400" dirty="0"/>
          </a:p>
        </p:txBody>
      </p:sp>
      <p:sp>
        <p:nvSpPr>
          <p:cNvPr id="35" name="Rectangle: Rounded Corners 34">
            <a:extLst>
              <a:ext uri="{FF2B5EF4-FFF2-40B4-BE49-F238E27FC236}">
                <a16:creationId xmlns:a16="http://schemas.microsoft.com/office/drawing/2014/main" id="{CC174D7F-83E6-A883-B69F-1639D1D346D1}"/>
              </a:ext>
            </a:extLst>
          </p:cNvPr>
          <p:cNvSpPr/>
          <p:nvPr/>
        </p:nvSpPr>
        <p:spPr>
          <a:xfrm>
            <a:off x="7162800" y="1905000"/>
            <a:ext cx="1371602" cy="9525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Classification using CNN</a:t>
            </a:r>
            <a:endParaRPr lang="en-IN" sz="1400" dirty="0"/>
          </a:p>
        </p:txBody>
      </p:sp>
      <p:sp>
        <p:nvSpPr>
          <p:cNvPr id="36" name="Flowchart: Connector 35">
            <a:extLst>
              <a:ext uri="{FF2B5EF4-FFF2-40B4-BE49-F238E27FC236}">
                <a16:creationId xmlns:a16="http://schemas.microsoft.com/office/drawing/2014/main" id="{A8F64A52-0065-0FAE-EB02-12214DB2C230}"/>
              </a:ext>
            </a:extLst>
          </p:cNvPr>
          <p:cNvSpPr/>
          <p:nvPr/>
        </p:nvSpPr>
        <p:spPr>
          <a:xfrm>
            <a:off x="7239002" y="3968671"/>
            <a:ext cx="1295400" cy="1127124"/>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err="1"/>
              <a:t>Glucoma</a:t>
            </a:r>
            <a:endParaRPr lang="en-IN" sz="1400" dirty="0"/>
          </a:p>
        </p:txBody>
      </p:sp>
      <p:sp>
        <p:nvSpPr>
          <p:cNvPr id="37" name="Oval 36">
            <a:extLst>
              <a:ext uri="{FF2B5EF4-FFF2-40B4-BE49-F238E27FC236}">
                <a16:creationId xmlns:a16="http://schemas.microsoft.com/office/drawing/2014/main" id="{93C05953-945A-42D1-AFB9-085705798D9D}"/>
              </a:ext>
            </a:extLst>
          </p:cNvPr>
          <p:cNvSpPr/>
          <p:nvPr/>
        </p:nvSpPr>
        <p:spPr>
          <a:xfrm>
            <a:off x="4533900" y="3422738"/>
            <a:ext cx="14478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Not </a:t>
            </a:r>
            <a:r>
              <a:rPr lang="en-US" sz="1400" dirty="0" err="1"/>
              <a:t>Glucoma</a:t>
            </a:r>
            <a:endParaRPr lang="en-IN" sz="1400" dirty="0"/>
          </a:p>
        </p:txBody>
      </p:sp>
      <p:sp>
        <p:nvSpPr>
          <p:cNvPr id="38" name="Oval 37">
            <a:extLst>
              <a:ext uri="{FF2B5EF4-FFF2-40B4-BE49-F238E27FC236}">
                <a16:creationId xmlns:a16="http://schemas.microsoft.com/office/drawing/2014/main" id="{9D4F08E5-DAE4-AB1D-7ABE-44455AD350A2}"/>
              </a:ext>
            </a:extLst>
          </p:cNvPr>
          <p:cNvSpPr/>
          <p:nvPr/>
        </p:nvSpPr>
        <p:spPr>
          <a:xfrm>
            <a:off x="4724400" y="4976647"/>
            <a:ext cx="14478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err="1"/>
              <a:t>Glucoma</a:t>
            </a:r>
            <a:endParaRPr lang="en-IN" sz="1400" dirty="0"/>
          </a:p>
        </p:txBody>
      </p:sp>
      <p:sp>
        <p:nvSpPr>
          <p:cNvPr id="39" name="Arrow: Right 38">
            <a:extLst>
              <a:ext uri="{FF2B5EF4-FFF2-40B4-BE49-F238E27FC236}">
                <a16:creationId xmlns:a16="http://schemas.microsoft.com/office/drawing/2014/main" id="{B7B371BD-EA7A-3AA2-B6CB-C114E03F3DCF}"/>
              </a:ext>
            </a:extLst>
          </p:cNvPr>
          <p:cNvSpPr/>
          <p:nvPr/>
        </p:nvSpPr>
        <p:spPr>
          <a:xfrm>
            <a:off x="2919714" y="2305050"/>
            <a:ext cx="597061" cy="2095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Right 39">
            <a:extLst>
              <a:ext uri="{FF2B5EF4-FFF2-40B4-BE49-F238E27FC236}">
                <a16:creationId xmlns:a16="http://schemas.microsoft.com/office/drawing/2014/main" id="{38D9770F-B238-F9D0-0E0A-4A2AF4EE332F}"/>
              </a:ext>
            </a:extLst>
          </p:cNvPr>
          <p:cNvSpPr/>
          <p:nvPr/>
        </p:nvSpPr>
        <p:spPr>
          <a:xfrm>
            <a:off x="4888377" y="2352675"/>
            <a:ext cx="445623" cy="2095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1" name="Picture 40">
            <a:extLst>
              <a:ext uri="{FF2B5EF4-FFF2-40B4-BE49-F238E27FC236}">
                <a16:creationId xmlns:a16="http://schemas.microsoft.com/office/drawing/2014/main" id="{4C4C6481-A1D1-1112-F19E-60343DE2A7E6}"/>
              </a:ext>
            </a:extLst>
          </p:cNvPr>
          <p:cNvPicPr>
            <a:picLocks noChangeAspect="1"/>
          </p:cNvPicPr>
          <p:nvPr/>
        </p:nvPicPr>
        <p:blipFill>
          <a:blip r:embed="rId2"/>
          <a:stretch>
            <a:fillRect/>
          </a:stretch>
        </p:blipFill>
        <p:spPr>
          <a:xfrm>
            <a:off x="6664590" y="2272653"/>
            <a:ext cx="553789" cy="241947"/>
          </a:xfrm>
          <a:prstGeom prst="rect">
            <a:avLst/>
          </a:prstGeom>
        </p:spPr>
      </p:pic>
      <p:sp>
        <p:nvSpPr>
          <p:cNvPr id="42" name="Arrow: Down 41">
            <a:extLst>
              <a:ext uri="{FF2B5EF4-FFF2-40B4-BE49-F238E27FC236}">
                <a16:creationId xmlns:a16="http://schemas.microsoft.com/office/drawing/2014/main" id="{D0D28253-F4A7-4721-1C8A-676D5B364F0C}"/>
              </a:ext>
            </a:extLst>
          </p:cNvPr>
          <p:cNvSpPr/>
          <p:nvPr/>
        </p:nvSpPr>
        <p:spPr>
          <a:xfrm>
            <a:off x="7772400" y="2857500"/>
            <a:ext cx="152400" cy="11111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Connector 43">
            <a:extLst>
              <a:ext uri="{FF2B5EF4-FFF2-40B4-BE49-F238E27FC236}">
                <a16:creationId xmlns:a16="http://schemas.microsoft.com/office/drawing/2014/main" id="{AED39990-7C00-C0CE-906D-F10634FAFBC7}"/>
              </a:ext>
            </a:extLst>
          </p:cNvPr>
          <p:cNvCxnSpPr>
            <a:stCxn id="36" idx="2"/>
            <a:endCxn id="37" idx="6"/>
          </p:cNvCxnSpPr>
          <p:nvPr/>
        </p:nvCxnSpPr>
        <p:spPr>
          <a:xfrm flipH="1" flipV="1">
            <a:off x="5981700" y="3879938"/>
            <a:ext cx="1257302" cy="652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748A1B0-4066-FE0E-83A5-DAF84E4B8182}"/>
              </a:ext>
            </a:extLst>
          </p:cNvPr>
          <p:cNvCxnSpPr>
            <a:cxnSpLocks/>
            <a:stCxn id="36" idx="2"/>
            <a:endCxn id="38" idx="6"/>
          </p:cNvCxnSpPr>
          <p:nvPr/>
        </p:nvCxnSpPr>
        <p:spPr>
          <a:xfrm flipH="1">
            <a:off x="6172200" y="4532233"/>
            <a:ext cx="1066802" cy="901614"/>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45BDA81-CA66-CD34-D782-CA62415076CA}"/>
              </a:ext>
            </a:extLst>
          </p:cNvPr>
          <p:cNvSpPr txBox="1"/>
          <p:nvPr/>
        </p:nvSpPr>
        <p:spPr>
          <a:xfrm>
            <a:off x="6172200" y="3797301"/>
            <a:ext cx="455574" cy="369332"/>
          </a:xfrm>
          <a:prstGeom prst="rect">
            <a:avLst/>
          </a:prstGeom>
          <a:noFill/>
        </p:spPr>
        <p:txBody>
          <a:bodyPr wrap="none" rtlCol="0">
            <a:spAutoFit/>
          </a:bodyPr>
          <a:lstStyle/>
          <a:p>
            <a:r>
              <a:rPr lang="en-US" dirty="0"/>
              <a:t>No</a:t>
            </a:r>
            <a:endParaRPr lang="en-IN" dirty="0"/>
          </a:p>
        </p:txBody>
      </p:sp>
      <p:sp>
        <p:nvSpPr>
          <p:cNvPr id="50" name="TextBox 49">
            <a:extLst>
              <a:ext uri="{FF2B5EF4-FFF2-40B4-BE49-F238E27FC236}">
                <a16:creationId xmlns:a16="http://schemas.microsoft.com/office/drawing/2014/main" id="{C089015A-E531-0552-1759-A6C2A74EAC2A}"/>
              </a:ext>
            </a:extLst>
          </p:cNvPr>
          <p:cNvSpPr txBox="1"/>
          <p:nvPr/>
        </p:nvSpPr>
        <p:spPr>
          <a:xfrm>
            <a:off x="6400800" y="4976647"/>
            <a:ext cx="485518" cy="369332"/>
          </a:xfrm>
          <a:prstGeom prst="rect">
            <a:avLst/>
          </a:prstGeom>
          <a:noFill/>
        </p:spPr>
        <p:txBody>
          <a:bodyPr wrap="none" rtlCol="0">
            <a:spAutoFit/>
          </a:bodyPr>
          <a:lstStyle/>
          <a:p>
            <a:r>
              <a:rPr lang="en-US" dirty="0"/>
              <a:t>Yes</a:t>
            </a:r>
            <a:endParaRPr lang="en-IN" dirty="0"/>
          </a:p>
        </p:txBody>
      </p:sp>
      <p:pic>
        <p:nvPicPr>
          <p:cNvPr id="56" name="Picture 55">
            <a:extLst>
              <a:ext uri="{FF2B5EF4-FFF2-40B4-BE49-F238E27FC236}">
                <a16:creationId xmlns:a16="http://schemas.microsoft.com/office/drawing/2014/main" id="{FFEDE799-C7C1-5DA0-14C8-E2F535E9097E}"/>
              </a:ext>
            </a:extLst>
          </p:cNvPr>
          <p:cNvPicPr>
            <a:picLocks noChangeAspect="1"/>
          </p:cNvPicPr>
          <p:nvPr/>
        </p:nvPicPr>
        <p:blipFill>
          <a:blip r:embed="rId3"/>
          <a:stretch>
            <a:fillRect/>
          </a:stretch>
        </p:blipFill>
        <p:spPr>
          <a:xfrm>
            <a:off x="154038" y="-69992"/>
            <a:ext cx="1141362" cy="1233905"/>
          </a:xfrm>
          <a:prstGeom prst="rect">
            <a:avLst/>
          </a:prstGeom>
        </p:spPr>
      </p:pic>
      <p:sp>
        <p:nvSpPr>
          <p:cNvPr id="57" name="Title 1">
            <a:extLst>
              <a:ext uri="{FF2B5EF4-FFF2-40B4-BE49-F238E27FC236}">
                <a16:creationId xmlns:a16="http://schemas.microsoft.com/office/drawing/2014/main" id="{714679EB-CF03-EBC3-E368-6E9C717691C5}"/>
              </a:ext>
            </a:extLst>
          </p:cNvPr>
          <p:cNvSpPr txBox="1">
            <a:spLocks/>
          </p:cNvSpPr>
          <p:nvPr/>
        </p:nvSpPr>
        <p:spPr>
          <a:xfrm>
            <a:off x="609600" y="228600"/>
            <a:ext cx="7924800" cy="685800"/>
          </a:xfrm>
          <a:prstGeom prst="rect">
            <a:avLst/>
          </a:prstGeom>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buFont typeface="Arial" panose="020B0604020202020204" pitchFamily="34" charset="0"/>
              <a:buNone/>
            </a:pP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12800" b="1" dirty="0">
                <a:latin typeface="Times New Roman" panose="02020603050405020304" pitchFamily="18" charset="0"/>
                <a:cs typeface="Times New Roman" panose="02020603050405020304" pitchFamily="18" charset="0"/>
                <a:sym typeface="+mn-ea"/>
              </a:rPr>
              <a:t>METHODOLOGY</a:t>
            </a:r>
            <a:br>
              <a:rPr lang="en-US" sz="3555" b="1" dirty="0">
                <a:latin typeface="Times New Roman" panose="02020603050405020304" pitchFamily="18" charset="0"/>
                <a:cs typeface="Times New Roman" panose="02020603050405020304" pitchFamily="18" charset="0"/>
                <a:sym typeface="+mn-ea"/>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03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447800" y="304800"/>
            <a:ext cx="63246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PROPOSED Model</a:t>
            </a:r>
            <a:r>
              <a:rPr lang="en-US" sz="3200" dirty="0"/>
              <a:t>:</a:t>
            </a:r>
            <a:endParaRPr lang="en-US" sz="4400" dirty="0"/>
          </a:p>
        </p:txBody>
      </p:sp>
      <p:pic>
        <p:nvPicPr>
          <p:cNvPr id="3" name="Picture 2" descr="DMIHER New LOGO"/>
          <p:cNvPicPr/>
          <p:nvPr/>
        </p:nvPicPr>
        <p:blipFill>
          <a:blip r:embed="rId2">
            <a:extLst>
              <a:ext uri="{28A0092B-C50C-407E-A947-70E740481C1C}">
                <a14:useLocalDpi xmlns:a14="http://schemas.microsoft.com/office/drawing/2010/main" val="0"/>
              </a:ext>
            </a:extLst>
          </a:blip>
          <a:srcRect/>
          <a:stretch>
            <a:fillRect/>
          </a:stretch>
        </p:blipFill>
        <p:spPr bwMode="auto">
          <a:xfrm>
            <a:off x="171450" y="138953"/>
            <a:ext cx="1123950" cy="1219200"/>
          </a:xfrm>
          <a:prstGeom prst="rect">
            <a:avLst/>
          </a:prstGeom>
          <a:noFill/>
          <a:ln>
            <a:noFill/>
          </a:ln>
        </p:spPr>
      </p:pic>
      <p:pic>
        <p:nvPicPr>
          <p:cNvPr id="4" name="Picture 3"/>
          <p:cNvPicPr/>
          <p:nvPr/>
        </p:nvPicPr>
        <p:blipFill>
          <a:blip r:embed="rId3"/>
          <a:srcRect/>
          <a:stretch>
            <a:fillRect/>
          </a:stretch>
        </p:blipFill>
        <p:spPr bwMode="auto">
          <a:xfrm>
            <a:off x="8077200" y="152400"/>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a:extLst>
              <a:ext uri="{FF2B5EF4-FFF2-40B4-BE49-F238E27FC236}">
                <a16:creationId xmlns:a16="http://schemas.microsoft.com/office/drawing/2014/main" id="{F2C65431-AE11-F79F-0E38-44E875384071}"/>
              </a:ext>
            </a:extLst>
          </p:cNvPr>
          <p:cNvPicPr>
            <a:picLocks noChangeAspect="1"/>
          </p:cNvPicPr>
          <p:nvPr/>
        </p:nvPicPr>
        <p:blipFill>
          <a:blip r:embed="rId4"/>
          <a:stretch>
            <a:fillRect/>
          </a:stretch>
        </p:blipFill>
        <p:spPr>
          <a:xfrm>
            <a:off x="941707" y="1558366"/>
            <a:ext cx="7125333" cy="52691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3CB3A314-76AA-24E2-045F-A3FA649DB3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094" y="1447800"/>
            <a:ext cx="8510706" cy="4419600"/>
          </a:xfrm>
        </p:spPr>
      </p:pic>
      <p:sp>
        <p:nvSpPr>
          <p:cNvPr id="4" name="Date Placeholder 3">
            <a:extLst>
              <a:ext uri="{FF2B5EF4-FFF2-40B4-BE49-F238E27FC236}">
                <a16:creationId xmlns:a16="http://schemas.microsoft.com/office/drawing/2014/main" id="{0743C4B3-4180-178E-3967-638A18A0FAB6}"/>
              </a:ext>
            </a:extLst>
          </p:cNvPr>
          <p:cNvSpPr>
            <a:spLocks noGrp="1"/>
          </p:cNvSpPr>
          <p:nvPr>
            <p:ph type="dt" sz="half" idx="10"/>
          </p:nvPr>
        </p:nvSpPr>
        <p:spPr/>
        <p:txBody>
          <a:bodyPr/>
          <a:lstStyle/>
          <a:p>
            <a:r>
              <a:rPr lang="en-US">
                <a:solidFill>
                  <a:prstClr val="black">
                    <a:tint val="75000"/>
                  </a:prstClr>
                </a:solidFill>
              </a:rPr>
              <a:t>28/08/2020</a:t>
            </a:r>
          </a:p>
        </p:txBody>
      </p:sp>
      <p:sp>
        <p:nvSpPr>
          <p:cNvPr id="5" name="Footer Placeholder 4">
            <a:extLst>
              <a:ext uri="{FF2B5EF4-FFF2-40B4-BE49-F238E27FC236}">
                <a16:creationId xmlns:a16="http://schemas.microsoft.com/office/drawing/2014/main" id="{1EBA0506-ABE1-CA97-31D8-614FAB9E2720}"/>
              </a:ext>
            </a:extLst>
          </p:cNvPr>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a:extLst>
              <a:ext uri="{FF2B5EF4-FFF2-40B4-BE49-F238E27FC236}">
                <a16:creationId xmlns:a16="http://schemas.microsoft.com/office/drawing/2014/main" id="{ABB80CDB-F455-3E52-2091-4AFE47905749}"/>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t>15</a:t>
            </a:fld>
            <a:endParaRPr lang="en-US">
              <a:solidFill>
                <a:prstClr val="black">
                  <a:tint val="75000"/>
                </a:prstClr>
              </a:solidFill>
            </a:endParaRPr>
          </a:p>
        </p:txBody>
      </p:sp>
      <p:pic>
        <p:nvPicPr>
          <p:cNvPr id="7" name="Google Shape;476;p11" descr="DMIHER New LOGO">
            <a:extLst>
              <a:ext uri="{FF2B5EF4-FFF2-40B4-BE49-F238E27FC236}">
                <a16:creationId xmlns:a16="http://schemas.microsoft.com/office/drawing/2014/main" id="{06E1E803-D7B1-D423-E9A6-B7B50CD8015B}"/>
              </a:ext>
            </a:extLst>
          </p:cNvPr>
          <p:cNvPicPr preferRelativeResize="0"/>
          <p:nvPr/>
        </p:nvPicPr>
        <p:blipFill rotWithShape="1">
          <a:blip r:embed="rId3">
            <a:alphaModFix/>
          </a:blip>
          <a:srcRect/>
          <a:stretch/>
        </p:blipFill>
        <p:spPr>
          <a:xfrm>
            <a:off x="171450" y="138953"/>
            <a:ext cx="819150" cy="851647"/>
          </a:xfrm>
          <a:prstGeom prst="rect">
            <a:avLst/>
          </a:prstGeom>
          <a:noFill/>
          <a:ln>
            <a:noFill/>
          </a:ln>
        </p:spPr>
      </p:pic>
      <p:pic>
        <p:nvPicPr>
          <p:cNvPr id="8" name="Google Shape;504;p12">
            <a:extLst>
              <a:ext uri="{FF2B5EF4-FFF2-40B4-BE49-F238E27FC236}">
                <a16:creationId xmlns:a16="http://schemas.microsoft.com/office/drawing/2014/main" id="{3A7EC78B-CF12-4A33-B77B-8E356D2723D1}"/>
              </a:ext>
            </a:extLst>
          </p:cNvPr>
          <p:cNvPicPr preferRelativeResize="0"/>
          <p:nvPr/>
        </p:nvPicPr>
        <p:blipFill rotWithShape="1">
          <a:blip r:embed="rId4">
            <a:alphaModFix/>
          </a:blip>
          <a:srcRect/>
          <a:stretch/>
        </p:blipFill>
        <p:spPr>
          <a:xfrm>
            <a:off x="8077200" y="152400"/>
            <a:ext cx="838200" cy="914400"/>
          </a:xfrm>
          <a:prstGeom prst="ellipse">
            <a:avLst/>
          </a:prstGeom>
          <a:noFill/>
          <a:ln>
            <a:noFill/>
          </a:ln>
          <a:effectLst>
            <a:outerShdw blurRad="381000" dist="292100" dir="5400000" sx="-80000" sy="-18000" rotWithShape="0">
              <a:srgbClr val="000000">
                <a:alpha val="21960"/>
              </a:srgbClr>
            </a:outerShdw>
          </a:effectLst>
        </p:spPr>
      </p:pic>
      <p:sp>
        <p:nvSpPr>
          <p:cNvPr id="9" name="TextBox 8">
            <a:extLst>
              <a:ext uri="{FF2B5EF4-FFF2-40B4-BE49-F238E27FC236}">
                <a16:creationId xmlns:a16="http://schemas.microsoft.com/office/drawing/2014/main" id="{90B11A6F-1A4C-B437-EB11-4C74D26D403E}"/>
              </a:ext>
            </a:extLst>
          </p:cNvPr>
          <p:cNvSpPr txBox="1"/>
          <p:nvPr/>
        </p:nvSpPr>
        <p:spPr>
          <a:xfrm>
            <a:off x="2576052" y="467380"/>
            <a:ext cx="4572000" cy="523220"/>
          </a:xfrm>
          <a:prstGeom prst="rect">
            <a:avLst/>
          </a:prstGeom>
          <a:noFill/>
        </p:spPr>
        <p:txBody>
          <a:bodyPr wrap="square">
            <a:spAutoFit/>
          </a:bodyPr>
          <a:lstStyle/>
          <a:p>
            <a:pPr>
              <a:buClr>
                <a:srgbClr val="000000"/>
              </a:buClr>
              <a:buFont typeface="Arial"/>
              <a:buNone/>
            </a:pPr>
            <a:r>
              <a:rPr lang="en-US" sz="2800" kern="0" dirty="0">
                <a:solidFill>
                  <a:srgbClr val="000000"/>
                </a:solidFill>
                <a:latin typeface="Times New Roman"/>
                <a:ea typeface="Times New Roman"/>
                <a:cs typeface="Times New Roman"/>
                <a:sym typeface="Times New Roman"/>
              </a:rPr>
              <a:t>PROPOSED RESULT</a:t>
            </a:r>
            <a:r>
              <a:rPr lang="en-US" sz="2800" kern="0" dirty="0">
                <a:solidFill>
                  <a:srgbClr val="000000"/>
                </a:solidFill>
                <a:ea typeface="Calibri"/>
                <a:cs typeface="Calibri"/>
                <a:sym typeface="Calibri"/>
              </a:rPr>
              <a:t>:</a:t>
            </a:r>
            <a:endParaRPr lang="en-US" sz="4000" kern="0" dirty="0">
              <a:solidFill>
                <a:srgbClr val="000000"/>
              </a:solidFill>
              <a:ea typeface="Calibri"/>
              <a:cs typeface="Calibri"/>
              <a:sym typeface="Calibri"/>
            </a:endParaRPr>
          </a:p>
        </p:txBody>
      </p:sp>
    </p:spTree>
    <p:extLst>
      <p:ext uri="{BB962C8B-B14F-4D97-AF65-F5344CB8AC3E}">
        <p14:creationId xmlns:p14="http://schemas.microsoft.com/office/powerpoint/2010/main" val="4021689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74D7-E975-1F4C-FC6F-FDE5D3656718}"/>
              </a:ext>
            </a:extLst>
          </p:cNvPr>
          <p:cNvSpPr>
            <a:spLocks noGrp="1"/>
          </p:cNvSpPr>
          <p:nvPr>
            <p:ph type="title"/>
          </p:nvPr>
        </p:nvSpPr>
        <p:spPr/>
        <p:txBody>
          <a:bodyPr>
            <a:normAutofit/>
          </a:bodyPr>
          <a:lstStyle/>
          <a:p>
            <a:pPr algn="l"/>
            <a:r>
              <a:rPr lang="en-US" sz="2400" dirty="0"/>
              <a:t>ACCURCY</a:t>
            </a:r>
            <a:endParaRPr lang="en-IN" sz="2400" dirty="0"/>
          </a:p>
        </p:txBody>
      </p:sp>
      <p:sp>
        <p:nvSpPr>
          <p:cNvPr id="3" name="Date Placeholder 2">
            <a:extLst>
              <a:ext uri="{FF2B5EF4-FFF2-40B4-BE49-F238E27FC236}">
                <a16:creationId xmlns:a16="http://schemas.microsoft.com/office/drawing/2014/main" id="{C46E18F4-15F3-AF44-0D4A-72FA7245A435}"/>
              </a:ext>
            </a:extLst>
          </p:cNvPr>
          <p:cNvSpPr>
            <a:spLocks noGrp="1"/>
          </p:cNvSpPr>
          <p:nvPr>
            <p:ph type="dt" sz="half" idx="10"/>
          </p:nvPr>
        </p:nvSpPr>
        <p:spPr/>
        <p:txBody>
          <a:bodyPr/>
          <a:lstStyle/>
          <a:p>
            <a:r>
              <a:rPr lang="en-US">
                <a:solidFill>
                  <a:prstClr val="black">
                    <a:tint val="75000"/>
                  </a:prstClr>
                </a:solidFill>
              </a:rPr>
              <a:t>28/08/2020</a:t>
            </a:r>
          </a:p>
        </p:txBody>
      </p:sp>
      <p:sp>
        <p:nvSpPr>
          <p:cNvPr id="4" name="Footer Placeholder 3">
            <a:extLst>
              <a:ext uri="{FF2B5EF4-FFF2-40B4-BE49-F238E27FC236}">
                <a16:creationId xmlns:a16="http://schemas.microsoft.com/office/drawing/2014/main" id="{AE7AB80D-3FC7-444B-3CE7-4EA8E8A6B24E}"/>
              </a:ext>
            </a:extLst>
          </p:cNvPr>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5" name="Slide Number Placeholder 4">
            <a:extLst>
              <a:ext uri="{FF2B5EF4-FFF2-40B4-BE49-F238E27FC236}">
                <a16:creationId xmlns:a16="http://schemas.microsoft.com/office/drawing/2014/main" id="{E1EDA63F-693B-0A79-9CCD-7A9493CBAF0A}"/>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t>16</a:t>
            </a:fld>
            <a:endParaRPr lang="en-US">
              <a:solidFill>
                <a:prstClr val="black">
                  <a:tint val="75000"/>
                </a:prstClr>
              </a:solidFill>
            </a:endParaRPr>
          </a:p>
        </p:txBody>
      </p:sp>
      <p:pic>
        <p:nvPicPr>
          <p:cNvPr id="9" name="Picture 8">
            <a:extLst>
              <a:ext uri="{FF2B5EF4-FFF2-40B4-BE49-F238E27FC236}">
                <a16:creationId xmlns:a16="http://schemas.microsoft.com/office/drawing/2014/main" id="{28C9130E-7018-9FE3-F657-181D7F972C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799" y="1400414"/>
            <a:ext cx="6553201" cy="4846065"/>
          </a:xfrm>
          <a:prstGeom prst="rect">
            <a:avLst/>
          </a:prstGeom>
        </p:spPr>
      </p:pic>
    </p:spTree>
    <p:extLst>
      <p:ext uri="{BB962C8B-B14F-4D97-AF65-F5344CB8AC3E}">
        <p14:creationId xmlns:p14="http://schemas.microsoft.com/office/powerpoint/2010/main" val="3865086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MIHER New LOGO"/>
          <p:cNvPicPr/>
          <p:nvPr/>
        </p:nvPicPr>
        <p:blipFill>
          <a:blip r:embed="rId3">
            <a:extLst>
              <a:ext uri="{28A0092B-C50C-407E-A947-70E740481C1C}">
                <a14:useLocalDpi xmlns:a14="http://schemas.microsoft.com/office/drawing/2010/main" val="0"/>
              </a:ext>
            </a:extLst>
          </a:blip>
          <a:srcRect/>
          <a:stretch>
            <a:fillRect/>
          </a:stretch>
        </p:blipFill>
        <p:spPr bwMode="auto">
          <a:xfrm>
            <a:off x="171450" y="138953"/>
            <a:ext cx="1123950" cy="1219200"/>
          </a:xfrm>
          <a:prstGeom prst="rect">
            <a:avLst/>
          </a:prstGeom>
          <a:noFill/>
          <a:ln>
            <a:noFill/>
          </a:ln>
        </p:spPr>
      </p:pic>
      <p:pic>
        <p:nvPicPr>
          <p:cNvPr id="4" name="Picture 3"/>
          <p:cNvPicPr/>
          <p:nvPr/>
        </p:nvPicPr>
        <p:blipFill>
          <a:blip r:embed="rId4"/>
          <a:srcRect/>
          <a:stretch>
            <a:fillRect/>
          </a:stretch>
        </p:blipFill>
        <p:spPr bwMode="auto">
          <a:xfrm>
            <a:off x="8077200" y="152400"/>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Text Box 5"/>
          <p:cNvSpPr txBox="1"/>
          <p:nvPr/>
        </p:nvSpPr>
        <p:spPr>
          <a:xfrm>
            <a:off x="1231900" y="393700"/>
            <a:ext cx="6845300" cy="920115"/>
          </a:xfrm>
          <a:prstGeom prst="rect">
            <a:avLst/>
          </a:prstGeom>
          <a:noFill/>
        </p:spPr>
        <p:txBody>
          <a:bodyPr wrap="square" rtlCol="0">
            <a:noAutofit/>
          </a:bodyPr>
          <a:lstStyle/>
          <a:p>
            <a:pPr algn="ctr"/>
            <a:r>
              <a:rPr lang="en-US" sz="3200" b="1" dirty="0">
                <a:latin typeface="Times New Roman" panose="02020603050405020304" pitchFamily="18" charset="0"/>
                <a:cs typeface="Times New Roman" panose="02020603050405020304" pitchFamily="18" charset="0"/>
                <a:sym typeface="+mn-ea"/>
              </a:rPr>
              <a:t>CONCLUSION</a:t>
            </a:r>
            <a:endParaRPr lang="en-US" sz="3200" b="1"/>
          </a:p>
        </p:txBody>
      </p:sp>
      <p:sp>
        <p:nvSpPr>
          <p:cNvPr id="7" name="TextBox 4"/>
          <p:cNvSpPr txBox="1"/>
          <p:nvPr>
            <p:custDataLst>
              <p:tags r:id="rId1"/>
            </p:custDataLst>
          </p:nvPr>
        </p:nvSpPr>
        <p:spPr>
          <a:xfrm>
            <a:off x="361315" y="1219200"/>
            <a:ext cx="8408670" cy="5229860"/>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400" dirty="0">
                <a:latin typeface="Times New Roman" panose="02020603050405020304" pitchFamily="18" charset="0"/>
                <a:cs typeface="Times New Roman" panose="02020603050405020304" pitchFamily="18" charset="0"/>
              </a:rPr>
              <a:t>This study shows a smart way to detect glaucoma using enhanced images. </a:t>
            </a:r>
            <a:r>
              <a:rPr kumimoji="0" lang="en-US" sz="2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The classification report here instigates the fact that this model which achieved an accuracy of 81.67% with an integrated dataset is to be noted. The CNN here can process even on low quality images. The dataset created is a balanced dataset with </a:t>
            </a:r>
            <a:r>
              <a:rPr lang="en-IN" sz="2400" dirty="0">
                <a:latin typeface="Times New Roman" panose="02020603050405020304" pitchFamily="18" charset="0"/>
                <a:cs typeface="Times New Roman" panose="02020603050405020304" pitchFamily="18" charset="0"/>
              </a:rPr>
              <a:t>equitable </a:t>
            </a:r>
            <a:r>
              <a:rPr kumimoji="0" lang="en-US" sz="2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number of glaucoma and normal images.</a:t>
            </a:r>
          </a:p>
          <a:p>
            <a:pPr algn="l"/>
            <a:endParaRPr lang="en-US"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560" y="181681"/>
            <a:ext cx="8229600" cy="639762"/>
          </a:xfrm>
        </p:spPr>
        <p:txBody>
          <a:bodyPr>
            <a:normAutofit/>
          </a:bodyPr>
          <a:lstStyle/>
          <a:p>
            <a:r>
              <a:rPr lang="en-US" sz="3200" dirty="0">
                <a:latin typeface="Times New Roman" panose="02020603050405020304" pitchFamily="18" charset="0"/>
                <a:cs typeface="Times New Roman" panose="02020603050405020304" pitchFamily="18" charset="0"/>
              </a:rPr>
              <a:t>REFERENCES</a:t>
            </a:r>
            <a:endParaRPr lang="en-IN" sz="3200" dirty="0"/>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t>18</a:t>
            </a:fld>
            <a:endParaRPr lang="en-US">
              <a:solidFill>
                <a:prstClr val="black">
                  <a:tint val="75000"/>
                </a:prstClr>
              </a:solidFill>
            </a:endParaRPr>
          </a:p>
        </p:txBody>
      </p:sp>
      <p:sp>
        <p:nvSpPr>
          <p:cNvPr id="7" name="TextBox 6"/>
          <p:cNvSpPr txBox="1"/>
          <p:nvPr/>
        </p:nvSpPr>
        <p:spPr>
          <a:xfrm>
            <a:off x="228600" y="1022529"/>
            <a:ext cx="8534400" cy="1490280"/>
          </a:xfrm>
          <a:prstGeom prst="rect">
            <a:avLst/>
          </a:prstGeom>
          <a:noFill/>
        </p:spPr>
        <p:txBody>
          <a:bodyPr wrap="square">
            <a:spAutoFit/>
          </a:bodyPr>
          <a:lstStyle/>
          <a:p>
            <a:pPr marL="93980" marR="101600">
              <a:lnSpc>
                <a:spcPct val="150000"/>
              </a:lnSpc>
              <a:tabLst>
                <a:tab pos="562610" algn="l"/>
              </a:tabLst>
            </a:pPr>
            <a:endParaRPr 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436880" marR="101600" indent="-342900">
              <a:lnSpc>
                <a:spcPct val="150000"/>
              </a:lnSpc>
              <a:buFont typeface="+mj-lt"/>
              <a:buAutoNum type="arabicPeriod"/>
              <a:tabLst>
                <a:tab pos="562610" algn="l"/>
              </a:tabLst>
            </a:pPr>
            <a:r>
              <a:rPr lang="en-US" sz="12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References should be in IEEE Format</a:t>
            </a:r>
          </a:p>
          <a:p>
            <a:pPr marL="436880" marR="101600" indent="-342900">
              <a:lnSpc>
                <a:spcPct val="150000"/>
              </a:lnSpc>
              <a:buFont typeface="+mj-lt"/>
              <a:buAutoNum type="arabicPeriod"/>
              <a:tabLst>
                <a:tab pos="562610" algn="l"/>
              </a:tabLst>
            </a:pPr>
            <a:r>
              <a:rPr lang="en-US" sz="12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Font size 12</a:t>
            </a:r>
          </a:p>
          <a:p>
            <a:pPr marL="436880" marR="101600" indent="-342900">
              <a:lnSpc>
                <a:spcPct val="150000"/>
              </a:lnSpc>
              <a:buFont typeface="+mj-lt"/>
              <a:buAutoNum type="arabicPeriod"/>
              <a:tabLst>
                <a:tab pos="562610" algn="l"/>
              </a:tabLst>
            </a:pPr>
            <a:r>
              <a:rPr lang="en-US" sz="12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Spacing 1.5</a:t>
            </a:r>
          </a:p>
          <a:p>
            <a:pPr marL="436880" marR="101600" indent="-342900">
              <a:lnSpc>
                <a:spcPct val="150000"/>
              </a:lnSpc>
              <a:buFont typeface="+mj-lt"/>
              <a:buAutoNum type="arabicPeriod"/>
              <a:tabLst>
                <a:tab pos="562610" algn="l"/>
              </a:tabLst>
            </a:pPr>
            <a:endParaRPr lang="en-IN" sz="12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descr="DMIHER New LOGO"/>
          <p:cNvPicPr/>
          <p:nvPr/>
        </p:nvPicPr>
        <p:blipFill>
          <a:blip r:embed="rId2">
            <a:extLst>
              <a:ext uri="{28A0092B-C50C-407E-A947-70E740481C1C}">
                <a14:useLocalDpi xmlns:a14="http://schemas.microsoft.com/office/drawing/2010/main" val="0"/>
              </a:ext>
            </a:extLst>
          </a:blip>
          <a:srcRect/>
          <a:stretch>
            <a:fillRect/>
          </a:stretch>
        </p:blipFill>
        <p:spPr bwMode="auto">
          <a:xfrm>
            <a:off x="171450" y="138953"/>
            <a:ext cx="1123950" cy="1219200"/>
          </a:xfrm>
          <a:prstGeom prst="rect">
            <a:avLst/>
          </a:prstGeom>
          <a:noFill/>
          <a:ln>
            <a:noFill/>
          </a:ln>
        </p:spPr>
      </p:pic>
      <p:pic>
        <p:nvPicPr>
          <p:cNvPr id="8" name="Picture 7"/>
          <p:cNvPicPr/>
          <p:nvPr/>
        </p:nvPicPr>
        <p:blipFill>
          <a:blip r:embed="rId3"/>
          <a:srcRect/>
          <a:stretch>
            <a:fillRect/>
          </a:stretch>
        </p:blipFill>
        <p:spPr bwMode="auto">
          <a:xfrm>
            <a:off x="8077200" y="152400"/>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0"/>
          </a:xfrm>
        </p:spPr>
        <p:txBody>
          <a:bodyPr>
            <a:normAutofit/>
          </a:bodyPr>
          <a:lstStyle/>
          <a:p>
            <a:r>
              <a:rPr lang="en-US" sz="4000" dirty="0">
                <a:latin typeface="Times New Roman" panose="02020603050405020304" pitchFamily="18" charset="0"/>
                <a:cs typeface="Times New Roman" panose="02020603050405020304" pitchFamily="18" charset="0"/>
              </a:rPr>
              <a:t>THANK YOU</a:t>
            </a:r>
          </a:p>
        </p:txBody>
      </p:sp>
      <p:sp>
        <p:nvSpPr>
          <p:cNvPr id="7" name="TextBox 6"/>
          <p:cNvSpPr txBox="1"/>
          <p:nvPr/>
        </p:nvSpPr>
        <p:spPr>
          <a:xfrm>
            <a:off x="2971800" y="5725923"/>
            <a:ext cx="3581400" cy="1132077"/>
          </a:xfrm>
          <a:prstGeom prst="rect">
            <a:avLst/>
          </a:prstGeom>
          <a:noFill/>
        </p:spPr>
        <p:txBody>
          <a:bodyPr wrap="square" rtlCol="0">
            <a:spAutoFit/>
          </a:bodyPr>
          <a:lstStyle/>
          <a:p>
            <a:endParaRPr lang="en-US" dirty="0"/>
          </a:p>
        </p:txBody>
      </p:sp>
      <p:pic>
        <p:nvPicPr>
          <p:cNvPr id="4" name="Picture 3" descr="DMIHER New LOGO"/>
          <p:cNvPicPr/>
          <p:nvPr/>
        </p:nvPicPr>
        <p:blipFill>
          <a:blip r:embed="rId2">
            <a:extLst>
              <a:ext uri="{28A0092B-C50C-407E-A947-70E740481C1C}">
                <a14:useLocalDpi xmlns:a14="http://schemas.microsoft.com/office/drawing/2010/main" val="0"/>
              </a:ext>
            </a:extLst>
          </a:blip>
          <a:srcRect/>
          <a:stretch>
            <a:fillRect/>
          </a:stretch>
        </p:blipFill>
        <p:spPr bwMode="auto">
          <a:xfrm>
            <a:off x="171450" y="138953"/>
            <a:ext cx="1123950" cy="1219200"/>
          </a:xfrm>
          <a:prstGeom prst="rect">
            <a:avLst/>
          </a:prstGeom>
          <a:noFill/>
          <a:ln>
            <a:noFill/>
          </a:ln>
        </p:spPr>
      </p:pic>
      <p:pic>
        <p:nvPicPr>
          <p:cNvPr id="5" name="Picture 4"/>
          <p:cNvPicPr/>
          <p:nvPr/>
        </p:nvPicPr>
        <p:blipFill>
          <a:blip r:embed="rId3"/>
          <a:srcRect/>
          <a:stretch>
            <a:fillRect/>
          </a:stretch>
        </p:blipFill>
        <p:spPr bwMode="auto">
          <a:xfrm>
            <a:off x="8077200" y="152400"/>
            <a:ext cx="838200" cy="9144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70&quot;:[3322116,3322480,3321420,3323000,3321500]}"/>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TotalTime>
  <Words>1039</Words>
  <Application>Microsoft Office PowerPoint</Application>
  <PresentationFormat>On-screen Show (4:3)</PresentationFormat>
  <Paragraphs>139</Paragraphs>
  <Slides>19</Slides>
  <Notes>3</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19</vt:i4>
      </vt:variant>
    </vt:vector>
  </HeadingPairs>
  <TitlesOfParts>
    <vt:vector size="29" baseType="lpstr">
      <vt:lpstr>Arial</vt:lpstr>
      <vt:lpstr>Calibri</vt:lpstr>
      <vt:lpstr>Calibri Light</vt:lpstr>
      <vt:lpstr>Times New Roman</vt:lpstr>
      <vt:lpstr>Wingdings</vt:lpstr>
      <vt:lpstr>Office Theme</vt:lpstr>
      <vt:lpstr>1_Office Theme</vt:lpstr>
      <vt:lpstr>2_Office Theme</vt:lpstr>
      <vt:lpstr>3_Office Theme</vt:lpstr>
      <vt:lpstr>4_Office Theme</vt:lpstr>
      <vt:lpstr>PowerPoint Presentation</vt:lpstr>
      <vt:lpstr>PowerPoint Presentation</vt:lpstr>
      <vt:lpstr>B.Tech Semester IV Project Based Learning-II Presentation  </vt:lpstr>
      <vt:lpstr>    </vt:lpstr>
      <vt:lpstr>CONTENTS </vt:lpstr>
      <vt:lpstr>INTRODUCTION</vt:lpstr>
      <vt:lpstr>PowerPoint Presentation</vt:lpstr>
      <vt:lpstr>OBJECTIVES</vt:lpstr>
      <vt:lpstr>PowerPoint Presentation</vt:lpstr>
      <vt:lpstr>PowerPoint Presentation</vt:lpstr>
      <vt:lpstr>PowerPoint Presentation</vt:lpstr>
      <vt:lpstr>Dataset Description</vt:lpstr>
      <vt:lpstr>PowerPoint Presentation</vt:lpstr>
      <vt:lpstr>PowerPoint Presentation</vt:lpstr>
      <vt:lpstr>PowerPoint Presentation</vt:lpstr>
      <vt:lpstr>ACCURCY</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PRESENTATION</dc:title>
  <dc:creator>Acer</dc:creator>
  <cp:lastModifiedBy>aditya shete</cp:lastModifiedBy>
  <cp:revision>425</cp:revision>
  <cp:lastPrinted>2023-02-04T19:54:00Z</cp:lastPrinted>
  <dcterms:created xsi:type="dcterms:W3CDTF">2006-08-16T00:00:00Z</dcterms:created>
  <dcterms:modified xsi:type="dcterms:W3CDTF">2025-04-18T14:53:08Z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092B7B5A9EEA4C47A5EC56E5120F7B55_12</vt:lpwstr>
  </property>
  <property fmtid="{D5CDD505-2E9C-101B-9397-08002B2CF9AE}" pid="3" name="KSOProductBuildVer">
    <vt:lpwstr>1033-12.2.0.17153</vt:lpwstr>
  </property>
</Properties>
</file>